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75" r:id="rId3"/>
    <p:sldId id="280" r:id="rId4"/>
    <p:sldId id="265" r:id="rId5"/>
    <p:sldId id="266" r:id="rId6"/>
    <p:sldId id="273" r:id="rId7"/>
    <p:sldId id="267" r:id="rId8"/>
    <p:sldId id="300" r:id="rId9"/>
    <p:sldId id="301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31C62-3285-479F-860E-0DE5B526C8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550A57-6CC1-4CE8-93D0-D158506588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71497-5DBF-4149-B159-AB2E4CC6B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5DCD3-3089-4584-9ED5-7D7CE1E429F4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EC4BC-5B2C-4E6E-8833-B5B1E2EB8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C014C-2A96-42B1-B5BF-E44CD81A5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E91AD-B0C3-4E59-8CDE-648D5504D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628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969D2-F449-4DAC-8F3C-422DDAF88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80940-E5E8-4462-BA08-1234EA460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B3E2E-4998-43A3-A8D8-F7F010F95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5DCD3-3089-4584-9ED5-7D7CE1E429F4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45548-7E15-42D1-B4C1-200771933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D7305-DDC4-4B1E-B41C-0D0789ED8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E91AD-B0C3-4E59-8CDE-648D5504D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506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66D0B-3369-43B9-87DD-E2075FC12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5B340-154D-4C75-B5BE-527BA4880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5DC36-3F70-4FF6-8FAD-A2338C3E9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5DCD3-3089-4584-9ED5-7D7CE1E429F4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A1346-80FB-403A-883A-80878F9BF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7A283-1475-418E-8461-6A88F8AFF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E91AD-B0C3-4E59-8CDE-648D5504D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641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C2C15-8FBE-4451-944D-221B06FD7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2D7F2-82FB-4963-AD3D-316BFED1F2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75B32D-EB4B-4349-9F23-6B1D07694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DCF278-8D1D-480A-B04C-3403B8F4C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5DCD3-3089-4584-9ED5-7D7CE1E429F4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B651D0-1FDD-4EBC-BD87-DB611DFCA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49EE0-835C-4136-98D9-57F5885FB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E91AD-B0C3-4E59-8CDE-648D5504D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096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1C6EE-5E90-4DE1-B91B-E85B7DEF0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4B06C-2FAA-4324-8535-8629A7CBD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80C1A6-E8F2-4D3F-9AC8-E1A94A2D2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7CA117-8992-4BEF-8416-98359766B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E3E700-2D1E-459F-B330-F5C372E89A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E64BFF-EF6B-46D0-8510-014E22E04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5DCD3-3089-4584-9ED5-7D7CE1E429F4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DC39CC-E6E5-4428-939F-EA9B968C4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0D62EA-59E0-46C9-8D85-840DB2AA0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E91AD-B0C3-4E59-8CDE-648D5504D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501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BCC7D-889D-4119-BE61-1C7C3CD2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1DC88A-D87D-4A8A-A943-60E68DACB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5DCD3-3089-4584-9ED5-7D7CE1E429F4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242857-3A80-4F9C-8484-C4934927C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135CFE-CA3A-4112-A1D6-3CE0C9753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E91AD-B0C3-4E59-8CDE-648D5504D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70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646A43-1FA6-4905-8351-CC777D5DA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5DCD3-3089-4584-9ED5-7D7CE1E429F4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3924A2-DFFD-482B-BC49-A8EF26A5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6800E-7FE2-445F-9FD6-A9265326C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E91AD-B0C3-4E59-8CDE-648D5504D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897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25D98-8463-4BDD-888E-659858204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91B5E-53A5-44A0-B1EB-B353B312A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B93641-9DCE-4B41-A2B4-2CBA64FF6C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25F8FE-6555-4822-9184-1261BE8E8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5DCD3-3089-4584-9ED5-7D7CE1E429F4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A25466-01C9-4A93-91F8-E33B071C5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AF8ACA-DDB5-4979-A228-6F29901BD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E91AD-B0C3-4E59-8CDE-648D5504D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243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CE1BC-0615-4B60-92F7-A67D184B4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C0CC5E-4A68-411A-8C42-932ED51232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0B834E-716B-4B43-8FAA-66EB0AD031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C1835-0761-444B-92DF-BAEA4700A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5DCD3-3089-4584-9ED5-7D7CE1E429F4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9B6168-0FB5-4E12-BB51-143090897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B26C7F-7661-4404-A0E7-CDF96DDFB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E91AD-B0C3-4E59-8CDE-648D5504D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469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71FBA-9650-47AF-9933-EABDF6119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6FF9E8-9C61-4DFF-8A25-4CEE07B69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97A36-07D6-4AB9-AA79-9697D4FF9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5DCD3-3089-4584-9ED5-7D7CE1E429F4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1D15B-1A91-4D95-8E3A-B2437C0E6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7A336-A7C0-4EDE-A549-D47021DD2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E91AD-B0C3-4E59-8CDE-648D5504D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314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57DDA5-7D49-4842-8B00-D94B790EA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E26F29-839D-4EE3-9226-91143FA06B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D4D45-8EE4-4BC2-B5F4-E5435B468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5DCD3-3089-4584-9ED5-7D7CE1E429F4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48259-4725-4E06-BF31-B78A976C9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6A1F3-64A1-46B4-93DF-EE931003E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E91AD-B0C3-4E59-8CDE-648D5504D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75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8E2A30-6B35-415E-90EC-6FDE3DB0E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8A5929-96E0-41D4-AD67-B4B064E22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314E9-0DDB-4E20-B1D2-CCA586408B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5DCD3-3089-4584-9ED5-7D7CE1E429F4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0A28D-CE80-45E2-B8AC-037D908304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A9B39-9639-44D5-9BF5-E4DF60FDB1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9E91AD-B0C3-4E59-8CDE-648D5504D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101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.pk/url?sa=i&amp;rct=j&amp;q=&amp;esrc=s&amp;frm=1&amp;source=images&amp;cd=&amp;cad=rja&amp;uact=8&amp;ved=0ahUKEwiJheeYge3JAhUSCY4KHQZ7BS0QjRwIBw&amp;url=http://toolkit.smallbiz.nsw.gov.au/part/1/1/3&amp;psig=AFQjCNHg9uSYzwJkot-tGIX6jzwTtJO_9w&amp;ust=1450789143016480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://www.google.com.pk/url?sa=i&amp;rct=j&amp;q=&amp;esrc=s&amp;frm=1&amp;source=images&amp;cd=&amp;cad=rja&amp;uact=8&amp;ved=0ahUKEwioy_vckevJAhVTj44KHfooAL8QjRwIBw&amp;url=http://neolivemarketing.com/creative-collaboration/&amp;bvm=bv.110151844,d.c2E&amp;psig=AFQjCNFgPwur31n1dFtNV0Kk7htfT3Y16Q&amp;ust=1450724933573503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://www.google.com.pk/url?sa=i&amp;rct=j&amp;q=&amp;esrc=s&amp;frm=1&amp;source=images&amp;cd=&amp;cad=rja&amp;uact=8&amp;ved=0ahUKEwi1ovmAqO3JAhUGCY4KHb3yCToQjRwIBw&amp;url=http://www.shutterstock.com/s/deliverables/search.html&amp;bvm=bv.110151844,d.c2E&amp;psig=AFQjCNEFDVc-3rhgtS5B6wyMfqzpNAEiEw&amp;ust=1450799624578933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://www.google.com.pk/url?sa=i&amp;rct=j&amp;q=&amp;esrc=s&amp;frm=1&amp;source=images&amp;cd=&amp;cad=rja&amp;uact=8&amp;ved=0ahUKEwiLjoOmpe3JAhWXBo4KHWUQCMEQjRwIBw&amp;url=http://ideas.businesxxl.com/communication-business-ideas/&amp;bvm=bv.110151844,d.c2E&amp;psig=AFQjCNEwQgGDWKZB-JnNvUdXXUGzH5gcoQ&amp;ust=1450798777719960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google.com.pk/url?sa=i&amp;rct=j&amp;q=&amp;esrc=s&amp;frm=1&amp;source=images&amp;cd=&amp;cad=rja&amp;uact=8&amp;ved=0ahUKEwisj46gp-3JAhXIRI4KHVidDqwQjRwIBw&amp;url=https://www.novell.com/communities/coolsolutions/10-questions-and-answers-about-novell-collaboration/&amp;bvm=bv.110151844,d.c2E&amp;psig=AFQjCNEUngSvrgLt7wWs-H9M_8Nx6Myecg&amp;ust=1450799435963825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241677" y="1931924"/>
            <a:ext cx="9144000" cy="2073601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kern="0" dirty="0">
                <a:latin typeface="Arial"/>
                <a:ea typeface="ＭＳ Ｐゴシック"/>
                <a:cs typeface="+mn-cs"/>
              </a:rPr>
              <a:t>WALL TRAVERSING ROBOT FOR INSPECTION PURPOSES</a:t>
            </a:r>
          </a:p>
          <a:p>
            <a:r>
              <a:rPr lang="en-US" sz="3200" b="1" kern="0" dirty="0">
                <a:latin typeface="Arial"/>
                <a:ea typeface="ＭＳ Ｐゴシック"/>
                <a:cs typeface="+mn-cs"/>
              </a:rPr>
              <a:t>Capt. Dr Attaullah Y. </a:t>
            </a:r>
            <a:r>
              <a:rPr lang="en-US" sz="3200" b="1" kern="0" dirty="0" err="1">
                <a:latin typeface="Arial"/>
                <a:ea typeface="ＭＳ Ｐゴシック"/>
                <a:cs typeface="+mn-cs"/>
              </a:rPr>
              <a:t>Memon</a:t>
            </a:r>
            <a:endParaRPr lang="en-US" sz="3200" b="1" kern="0" dirty="0">
              <a:latin typeface="Arial"/>
              <a:ea typeface="ＭＳ Ｐゴシック"/>
              <a:cs typeface="+mn-cs"/>
            </a:endParaRPr>
          </a:p>
          <a:p>
            <a:r>
              <a:rPr lang="en-US" sz="3200" b="1" kern="0" dirty="0">
                <a:latin typeface="Arial"/>
                <a:ea typeface="ＭＳ Ｐゴシック"/>
                <a:cs typeface="+mn-cs"/>
              </a:rPr>
              <a:t>Name of Students</a:t>
            </a:r>
          </a:p>
          <a:p>
            <a:r>
              <a:rPr lang="en-US" sz="3200" b="1" kern="0" dirty="0">
                <a:latin typeface="Arial"/>
                <a:ea typeface="ＭＳ Ｐゴシック"/>
                <a:cs typeface="+mn-cs"/>
              </a:rPr>
              <a:t>NUST - PNEC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9495" y="6149150"/>
            <a:ext cx="3714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>
              <a:cs typeface="Arial" panose="020B0604020202020204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23B77-B087-4156-AAD0-BE51DE87691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15153" y="107576"/>
            <a:ext cx="17615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UNIVERSITY LOGO</a:t>
            </a:r>
          </a:p>
        </p:txBody>
      </p:sp>
    </p:spTree>
    <p:extLst>
      <p:ext uri="{BB962C8B-B14F-4D97-AF65-F5344CB8AC3E}">
        <p14:creationId xmlns:p14="http://schemas.microsoft.com/office/powerpoint/2010/main" val="402022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06213" y="1122220"/>
            <a:ext cx="9393903" cy="51954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409392" y="1132948"/>
            <a:ext cx="8229579" cy="1674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 algn="just">
              <a:lnSpc>
                <a:spcPct val="115000"/>
              </a:lnSpc>
              <a:spcBef>
                <a:spcPts val="200"/>
              </a:spcBef>
              <a:buFont typeface="Arial" panose="020B0604020202020204" pitchFamily="34" charset="0"/>
              <a:buChar char="•"/>
              <a:tabLst>
                <a:tab pos="6729095" algn="l"/>
              </a:tabLst>
            </a:pPr>
            <a:endParaRPr lang="en-US" sz="1600" b="1" dirty="0">
              <a:solidFill>
                <a:srgbClr val="3B3E42"/>
              </a:solidFill>
              <a:ea typeface="MS PMincho" panose="02020600040205080304" pitchFamily="18" charset="-128"/>
              <a:cs typeface="Times New Roman" panose="02020603050405020304" pitchFamily="18" charset="0"/>
            </a:endParaRPr>
          </a:p>
          <a:p>
            <a:pPr marL="285750" lvl="1" indent="-285750" algn="just">
              <a:lnSpc>
                <a:spcPct val="115000"/>
              </a:lnSpc>
              <a:spcBef>
                <a:spcPts val="200"/>
              </a:spcBef>
              <a:buFont typeface="Arial" panose="020B0604020202020204" pitchFamily="34" charset="0"/>
              <a:buChar char="•"/>
              <a:tabLst>
                <a:tab pos="6729095" algn="l"/>
              </a:tabLst>
            </a:pPr>
            <a:r>
              <a:rPr lang="en-US" sz="1600" b="1" dirty="0">
                <a:solidFill>
                  <a:srgbClr val="3B3E42"/>
                </a:solidFill>
                <a:ea typeface="MS PMincho" panose="02020600040205080304" pitchFamily="18" charset="-128"/>
                <a:cs typeface="Times New Roman" panose="02020603050405020304" pitchFamily="18" charset="0"/>
              </a:rPr>
              <a:t>WORK EXPERIENCE Should include any relevant info regarding the project for instance course work, internship, CEPs, relevant free lancing projects or semester projects</a:t>
            </a:r>
            <a:endParaRPr lang="en-US" sz="1400" dirty="0">
              <a:solidFill>
                <a:srgbClr val="3B3E42"/>
              </a:solidFill>
              <a:ea typeface="MS PMincho" panose="02020600040205080304" pitchFamily="18" charset="-128"/>
              <a:cs typeface="Times New Roman" panose="02020603050405020304" pitchFamily="18" charset="0"/>
            </a:endParaRPr>
          </a:p>
          <a:p>
            <a:pPr lvl="1" algn="just">
              <a:lnSpc>
                <a:spcPct val="115000"/>
              </a:lnSpc>
              <a:spcBef>
                <a:spcPts val="200"/>
              </a:spcBef>
              <a:tabLst>
                <a:tab pos="6729095" algn="l"/>
              </a:tabLst>
            </a:pPr>
            <a:endParaRPr lang="en-US" sz="500" dirty="0">
              <a:solidFill>
                <a:srgbClr val="3B3E42"/>
              </a:solidFill>
              <a:ea typeface="MS PMincho" panose="02020600040205080304" pitchFamily="18" charset="-128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endParaRPr lang="en-US" b="1" dirty="0">
              <a:solidFill>
                <a:srgbClr val="646464"/>
              </a:solidFill>
              <a:cs typeface="Arial" panose="020B0604020202020204" pitchFamily="34" charset="0"/>
            </a:endParaRPr>
          </a:p>
          <a:p>
            <a:endParaRPr lang="en-US" sz="1400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-91749"/>
            <a:ext cx="7851774" cy="863600"/>
          </a:xfrm>
        </p:spPr>
        <p:txBody>
          <a:bodyPr>
            <a:normAutofit/>
          </a:bodyPr>
          <a:lstStyle/>
          <a:p>
            <a:pPr algn="l"/>
            <a:br>
              <a:rPr lang="en-US" sz="2200" dirty="0">
                <a:solidFill>
                  <a:schemeClr val="accent1">
                    <a:lumMod val="50000"/>
                  </a:schemeClr>
                </a:solidFill>
                <a:latin typeface="+mn-lt"/>
                <a:cs typeface="Arial" panose="020B0604020202020204" pitchFamily="34" charset="0"/>
              </a:rPr>
            </a:b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n-lt"/>
                <a:cs typeface="Arial" panose="020B0604020202020204" pitchFamily="34" charset="0"/>
              </a:rPr>
              <a:t>        </a:t>
            </a:r>
            <a:r>
              <a:rPr lang="en-US" sz="2200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Arial" panose="020B0604020202020204" pitchFamily="34" charset="0"/>
              </a:rPr>
              <a:t>Subject Matter Experts Profile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706584"/>
            <a:ext cx="12192000" cy="1385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16" name="AutoShape 20" descr="Image result for sungard availability services logo"/>
          <p:cNvSpPr>
            <a:spLocks noChangeAspect="1" noChangeArrowheads="1"/>
          </p:cNvSpPr>
          <p:nvPr/>
        </p:nvSpPr>
        <p:spPr bwMode="auto">
          <a:xfrm>
            <a:off x="134938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23B77-B087-4156-AAD0-BE51DE87691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73105" y="1281322"/>
            <a:ext cx="17625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TEAM MEMBER</a:t>
            </a:r>
          </a:p>
          <a:p>
            <a:pPr algn="ctr"/>
            <a:r>
              <a:rPr lang="en-US"/>
              <a:t>PHOTO</a:t>
            </a:r>
          </a:p>
        </p:txBody>
      </p:sp>
      <p:sp>
        <p:nvSpPr>
          <p:cNvPr id="3" name="Rectangle 2"/>
          <p:cNvSpPr/>
          <p:nvPr/>
        </p:nvSpPr>
        <p:spPr>
          <a:xfrm>
            <a:off x="473105" y="1132948"/>
            <a:ext cx="1762549" cy="20602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962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667591" y="1461004"/>
            <a:ext cx="10557147" cy="1503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31775" indent="-231775" eaLnBrk="0" hangingPunct="0"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250000"/>
              </a:lnSpc>
              <a:spcBef>
                <a:spcPct val="20000"/>
              </a:spcBef>
              <a:buClr>
                <a:schemeClr val="tx2"/>
              </a:buClr>
              <a:buSzPct val="75000"/>
              <a:buFontTx/>
              <a:buChar char="•"/>
            </a:pPr>
            <a:r>
              <a:rPr lang="en-GB" altLang="en-US" sz="1600" b="1" dirty="0">
                <a:latin typeface="+mn-lt"/>
              </a:rPr>
              <a:t>To remove the need of manual work at considerable heights</a:t>
            </a:r>
          </a:p>
          <a:p>
            <a:pPr eaLnBrk="1" hangingPunct="1">
              <a:lnSpc>
                <a:spcPct val="250000"/>
              </a:lnSpc>
              <a:spcBef>
                <a:spcPct val="20000"/>
              </a:spcBef>
              <a:buClr>
                <a:schemeClr val="tx2"/>
              </a:buClr>
              <a:buSzPct val="75000"/>
              <a:buFontTx/>
              <a:buChar char="•"/>
            </a:pPr>
            <a:r>
              <a:rPr lang="en-GB" altLang="en-US" sz="1600" b="1" dirty="0">
                <a:latin typeface="+mn-lt"/>
              </a:rPr>
              <a:t>Reduces safety hazards for people working at elevated levels</a:t>
            </a:r>
          </a:p>
          <a:p>
            <a:pPr eaLnBrk="1" hangingPunct="1">
              <a:lnSpc>
                <a:spcPct val="250000"/>
              </a:lnSpc>
              <a:spcBef>
                <a:spcPct val="20000"/>
              </a:spcBef>
              <a:buClr>
                <a:schemeClr val="tx2"/>
              </a:buClr>
              <a:buSzPct val="75000"/>
              <a:buFontTx/>
              <a:buChar char="•"/>
            </a:pPr>
            <a:r>
              <a:rPr lang="en-GB" altLang="en-US" sz="1600" b="1" dirty="0">
                <a:latin typeface="+mn-lt"/>
              </a:rPr>
              <a:t>Challenging mechanical design and engineering practices involved in the project</a:t>
            </a:r>
          </a:p>
          <a:p>
            <a:pPr eaLnBrk="1" hangingPunct="1">
              <a:lnSpc>
                <a:spcPct val="250000"/>
              </a:lnSpc>
              <a:spcBef>
                <a:spcPct val="20000"/>
              </a:spcBef>
              <a:buClr>
                <a:schemeClr val="tx2"/>
              </a:buClr>
              <a:buSzPct val="75000"/>
              <a:buFontTx/>
              <a:buChar char="•"/>
            </a:pPr>
            <a:r>
              <a:rPr lang="en-GB" altLang="en-US" sz="1600" b="1" dirty="0">
                <a:latin typeface="+mn-lt"/>
              </a:rPr>
              <a:t>A potential start-up which can be used for many purposes in different sectors.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939" y="34264"/>
            <a:ext cx="8232775" cy="863600"/>
          </a:xfrm>
        </p:spPr>
        <p:txBody>
          <a:bodyPr>
            <a:normAutofit/>
          </a:bodyPr>
          <a:lstStyle/>
          <a:p>
            <a:r>
              <a:rPr lang="en-GB" sz="2200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Arial" panose="020B0604020202020204" pitchFamily="34" charset="0"/>
              </a:rPr>
              <a:t>        Why This Project? Problem Statement</a:t>
            </a:r>
            <a:endParaRPr lang="en-US" sz="2200" b="1" dirty="0">
              <a:solidFill>
                <a:schemeClr val="accent1">
                  <a:lumMod val="50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706584"/>
            <a:ext cx="12192000" cy="1385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23B77-B087-4156-AAD0-BE51DE876918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0855" y="10956"/>
            <a:ext cx="1479743" cy="67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796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>
          <a:xfrm>
            <a:off x="3674907" y="857045"/>
            <a:ext cx="5517925" cy="5206135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rgbClr val="646464"/>
                </a:solidFill>
                <a:cs typeface="Arial" panose="020B0604020202020204" pitchFamily="34" charset="0"/>
              </a:rPr>
              <a:t>Introduction</a:t>
            </a:r>
            <a:endParaRPr lang="en-US" sz="500" b="1" dirty="0">
              <a:solidFill>
                <a:schemeClr val="bg2">
                  <a:lumMod val="50000"/>
                </a:schemeClr>
              </a:solidFill>
              <a:cs typeface="Arial" panose="020B0604020202020204" pitchFamily="34" charset="0"/>
            </a:endParaRPr>
          </a:p>
          <a:p>
            <a:endParaRPr lang="en-US" sz="500" b="1" dirty="0">
              <a:solidFill>
                <a:srgbClr val="646464"/>
              </a:solidFill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rgbClr val="646464"/>
                </a:solidFill>
                <a:cs typeface="Arial" panose="020B0604020202020204" pitchFamily="34" charset="0"/>
              </a:rPr>
              <a:t>Project Background:</a:t>
            </a:r>
          </a:p>
          <a:p>
            <a:pPr marL="742950" lvl="2"/>
            <a:r>
              <a:rPr lang="en-US" b="1" dirty="0">
                <a:solidFill>
                  <a:schemeClr val="bg2">
                    <a:lumMod val="50000"/>
                  </a:schemeClr>
                </a:solidFill>
                <a:cs typeface="Arial" panose="020B0604020202020204" pitchFamily="34" charset="0"/>
              </a:rPr>
              <a:t>Go</a:t>
            </a:r>
            <a:r>
              <a:rPr lang="en-US" b="1" dirty="0">
                <a:solidFill>
                  <a:srgbClr val="646464"/>
                </a:solidFill>
                <a:cs typeface="Arial" panose="020B0604020202020204" pitchFamily="34" charset="0"/>
              </a:rPr>
              <a:t>als and Objectives</a:t>
            </a:r>
          </a:p>
          <a:p>
            <a:pPr marL="742950" lvl="2"/>
            <a:r>
              <a:rPr lang="en-US" b="1" dirty="0">
                <a:solidFill>
                  <a:srgbClr val="646464"/>
                </a:solidFill>
                <a:cs typeface="Arial" panose="020B0604020202020204" pitchFamily="34" charset="0"/>
              </a:rPr>
              <a:t>Critical Success Factors</a:t>
            </a:r>
          </a:p>
          <a:p>
            <a:endParaRPr lang="en-US" sz="500" b="1" dirty="0">
              <a:solidFill>
                <a:srgbClr val="646464"/>
              </a:solidFill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rgbClr val="646464"/>
                </a:solidFill>
                <a:cs typeface="Arial" panose="020B0604020202020204" pitchFamily="34" charset="0"/>
              </a:rPr>
              <a:t>Project Deliverables</a:t>
            </a:r>
            <a:br>
              <a:rPr lang="en-US" sz="2000" b="1" dirty="0">
                <a:solidFill>
                  <a:srgbClr val="646464"/>
                </a:solidFill>
                <a:cs typeface="Arial" panose="020B0604020202020204" pitchFamily="34" charset="0"/>
              </a:rPr>
            </a:br>
            <a:r>
              <a:rPr lang="en-US" sz="1600" b="1" dirty="0">
                <a:solidFill>
                  <a:srgbClr val="646464"/>
                </a:solidFill>
                <a:cs typeface="Arial" panose="020B0604020202020204" pitchFamily="34" charset="0"/>
              </a:rPr>
              <a:t>- A modular design</a:t>
            </a:r>
            <a:br>
              <a:rPr lang="en-US" sz="1600" b="1" dirty="0">
                <a:solidFill>
                  <a:srgbClr val="646464"/>
                </a:solidFill>
                <a:cs typeface="Arial" panose="020B0604020202020204" pitchFamily="34" charset="0"/>
              </a:rPr>
            </a:br>
            <a:r>
              <a:rPr lang="en-US" sz="1600" b="1" dirty="0">
                <a:solidFill>
                  <a:srgbClr val="646464"/>
                </a:solidFill>
                <a:cs typeface="Arial" panose="020B0604020202020204" pitchFamily="34" charset="0"/>
              </a:rPr>
              <a:t>- Mission planning</a:t>
            </a:r>
          </a:p>
          <a:p>
            <a:endParaRPr lang="en-US" sz="500" b="1" dirty="0">
              <a:solidFill>
                <a:srgbClr val="646464"/>
              </a:solidFill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rgbClr val="646464"/>
                </a:solidFill>
                <a:cs typeface="Arial" panose="020B0604020202020204" pitchFamily="34" charset="0"/>
              </a:rPr>
              <a:t>Guiding Principles</a:t>
            </a:r>
            <a:br>
              <a:rPr lang="en-US" sz="2000" b="1" dirty="0">
                <a:solidFill>
                  <a:srgbClr val="646464"/>
                </a:solidFill>
                <a:cs typeface="Arial" panose="020B0604020202020204" pitchFamily="34" charset="0"/>
              </a:rPr>
            </a:br>
            <a:r>
              <a:rPr lang="en-US" sz="1600" b="1" dirty="0">
                <a:solidFill>
                  <a:srgbClr val="646464"/>
                </a:solidFill>
                <a:cs typeface="Arial" panose="020B0604020202020204" pitchFamily="34" charset="0"/>
              </a:rPr>
              <a:t>- Negative thrust</a:t>
            </a:r>
          </a:p>
          <a:p>
            <a:endParaRPr lang="en-US" sz="500" b="1" dirty="0">
              <a:solidFill>
                <a:srgbClr val="646464"/>
              </a:solidFill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rgbClr val="646464"/>
                </a:solidFill>
                <a:cs typeface="Arial" panose="020B0604020202020204" pitchFamily="34" charset="0"/>
              </a:rPr>
              <a:t>Business Continuity Plans</a:t>
            </a:r>
          </a:p>
          <a:p>
            <a:pPr lvl="1"/>
            <a:r>
              <a:rPr lang="en-US" sz="1600" b="1" dirty="0">
                <a:solidFill>
                  <a:srgbClr val="646464"/>
                </a:solidFill>
                <a:cs typeface="Arial" panose="020B0604020202020204" pitchFamily="34" charset="0"/>
              </a:rPr>
              <a:t>Industries, nuclear plants, construction sites</a:t>
            </a:r>
          </a:p>
          <a:p>
            <a:pPr indent="-234950">
              <a:spcBef>
                <a:spcPts val="0"/>
              </a:spcBef>
              <a:buFont typeface="Wingdings" pitchFamily="2" charset="2"/>
              <a:buChar char="§"/>
            </a:pPr>
            <a:endParaRPr lang="en-US" sz="500" b="1" dirty="0">
              <a:solidFill>
                <a:schemeClr val="bg2">
                  <a:lumMod val="50000"/>
                </a:schemeClr>
              </a:solidFill>
              <a:cs typeface="Arial" panose="020B0604020202020204" pitchFamily="34" charset="0"/>
            </a:endParaRPr>
          </a:p>
          <a:p>
            <a:endParaRPr lang="en-US" b="1" dirty="0">
              <a:solidFill>
                <a:srgbClr val="646464"/>
              </a:solidFill>
              <a:cs typeface="Arial" panose="020B0604020202020204" pitchFamily="34" charset="0"/>
            </a:endParaRPr>
          </a:p>
          <a:p>
            <a:pPr marL="642937" lvl="1" indent="-234950">
              <a:spcBef>
                <a:spcPts val="0"/>
              </a:spcBef>
              <a:buFont typeface="Wingdings" pitchFamily="2" charset="2"/>
              <a:buChar char="§"/>
            </a:pPr>
            <a:endParaRPr lang="en-US" sz="1400" b="1" dirty="0">
              <a:solidFill>
                <a:schemeClr val="bg2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748" y="877292"/>
            <a:ext cx="2784281" cy="2575460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0" y="637309"/>
            <a:ext cx="12192000" cy="1385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36444" y="-8619"/>
            <a:ext cx="8232775" cy="863600"/>
          </a:xfrm>
        </p:spPr>
        <p:txBody>
          <a:bodyPr>
            <a:normAutofit/>
          </a:bodyPr>
          <a:lstStyle/>
          <a:p>
            <a:pPr algn="l"/>
            <a:r>
              <a:rPr lang="en-US" sz="2200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23B77-B087-4156-AAD0-BE51DE876918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0855" y="0"/>
            <a:ext cx="1479743" cy="67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745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6956" y="17544"/>
            <a:ext cx="9685843" cy="619765"/>
          </a:xfrm>
        </p:spPr>
        <p:txBody>
          <a:bodyPr vert="horz" lIns="91440" tIns="45720" rIns="91440" bIns="45720" rtlCol="0" anchor="ctr">
            <a:noAutofit/>
          </a:bodyPr>
          <a:lstStyle/>
          <a:p>
            <a:br>
              <a:rPr lang="en-US" altLang="en-US" sz="2200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en-US" sz="2200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Arial" panose="020B0604020202020204" pitchFamily="34" charset="0"/>
              </a:rPr>
              <a:t>	Project Goals and Objectives</a:t>
            </a:r>
          </a:p>
        </p:txBody>
      </p:sp>
      <p:pic>
        <p:nvPicPr>
          <p:cNvPr id="17410" name="Picture 2" descr="What are your goals for 2015?"/>
          <p:cNvPicPr>
            <a:picLocks noChangeAspect="1" noChangeArrowheads="1"/>
          </p:cNvPicPr>
          <p:nvPr/>
        </p:nvPicPr>
        <p:blipFill>
          <a:blip r:embed="rId2" cstate="print"/>
          <a:srcRect t="14807"/>
          <a:stretch>
            <a:fillRect/>
          </a:stretch>
        </p:blipFill>
        <p:spPr bwMode="auto">
          <a:xfrm>
            <a:off x="465282" y="1302327"/>
            <a:ext cx="2293222" cy="1300699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</p:pic>
      <p:cxnSp>
        <p:nvCxnSpPr>
          <p:cNvPr id="5" name="Straight Connector 4"/>
          <p:cNvCxnSpPr/>
          <p:nvPr/>
        </p:nvCxnSpPr>
        <p:spPr>
          <a:xfrm>
            <a:off x="0" y="637309"/>
            <a:ext cx="12192000" cy="1385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172691" y="1025239"/>
            <a:ext cx="8562109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Project Goals:</a:t>
            </a:r>
          </a:p>
          <a:p>
            <a:pPr>
              <a:buFont typeface="Arial" pitchFamily="34" charset="0"/>
              <a:buChar char="•"/>
            </a:pPr>
            <a:endParaRPr lang="en-US" sz="1500" b="1" dirty="0"/>
          </a:p>
          <a:p>
            <a:pPr>
              <a:buFont typeface="Arial" pitchFamily="34" charset="0"/>
              <a:buChar char="•"/>
            </a:pPr>
            <a:r>
              <a:rPr lang="en-US" sz="1400" dirty="0"/>
              <a:t>  To provide a modular design of a wall traversing robot which can be incorporated with different mechanisms for different applications</a:t>
            </a:r>
          </a:p>
          <a:p>
            <a:endParaRPr lang="en-US" sz="1400" dirty="0"/>
          </a:p>
          <a:p>
            <a:pPr>
              <a:buFont typeface="Arial" pitchFamily="34" charset="0"/>
              <a:buChar char="•"/>
            </a:pPr>
            <a:r>
              <a:rPr lang="en-US" sz="1400" dirty="0"/>
              <a:t>  Develop a reliable model which can be automated or used manually as per requirement.</a:t>
            </a:r>
          </a:p>
          <a:p>
            <a:pPr fontAlgn="ctr"/>
            <a:endParaRPr lang="en-US" sz="1600" dirty="0"/>
          </a:p>
          <a:p>
            <a:pPr>
              <a:buFont typeface="Arial" pitchFamily="34" charset="0"/>
              <a:buChar char="•"/>
            </a:pPr>
            <a:endParaRPr lang="en-US" sz="1600" dirty="0"/>
          </a:p>
        </p:txBody>
      </p:sp>
      <p:pic>
        <p:nvPicPr>
          <p:cNvPr id="17412" name="Picture 4" descr="http://toolkit.smallbiz.nsw.gov.au/media/useruploads/images/Marketing_Ch1_Pt3_Marketing_Objectives.jpg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4229" y="3408206"/>
            <a:ext cx="2282826" cy="1343890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3200400" y="2867950"/>
            <a:ext cx="854825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/>
              <a:t>Project Objectives:</a:t>
            </a:r>
          </a:p>
          <a:p>
            <a:pPr algn="just">
              <a:buFont typeface="Arial" pitchFamily="34" charset="0"/>
              <a:buChar char="•"/>
            </a:pPr>
            <a:endParaRPr lang="en-US" sz="1400" b="1" dirty="0"/>
          </a:p>
          <a:p>
            <a:pPr algn="just">
              <a:buFont typeface="Arial" pitchFamily="34" charset="0"/>
              <a:buChar char="•"/>
            </a:pPr>
            <a:r>
              <a:rPr lang="en-US" sz="1400" dirty="0"/>
              <a:t>   Develop a robot with a balanced mechanical structure and suction mechanism to ensure smooth operation. </a:t>
            </a:r>
          </a:p>
          <a:p>
            <a:pPr algn="just">
              <a:buFont typeface="Arial" pitchFamily="34" charset="0"/>
              <a:buChar char="•"/>
            </a:pPr>
            <a:endParaRPr lang="en-US" sz="1400" dirty="0"/>
          </a:p>
          <a:p>
            <a:pPr algn="just">
              <a:buFont typeface="Arial" pitchFamily="34" charset="0"/>
              <a:buChar char="•"/>
            </a:pPr>
            <a:r>
              <a:rPr lang="en-US" sz="1400" dirty="0"/>
              <a:t>  Work out robot’s orientation with the use of sensors and electronic configurations.</a:t>
            </a:r>
          </a:p>
          <a:p>
            <a:pPr algn="just">
              <a:buFont typeface="Arial" pitchFamily="34" charset="0"/>
              <a:buChar char="•"/>
            </a:pPr>
            <a:endParaRPr lang="en-US" sz="1400" b="1" dirty="0"/>
          </a:p>
          <a:p>
            <a:pPr algn="just">
              <a:buFont typeface="Arial" pitchFamily="34" charset="0"/>
              <a:buChar char="•"/>
            </a:pPr>
            <a:r>
              <a:rPr lang="en-US" sz="1400" dirty="0"/>
              <a:t>  Develop a communication network for remote-control operation as well as automated operation i.e. mission planning</a:t>
            </a:r>
          </a:p>
          <a:p>
            <a:pPr algn="just">
              <a:buFont typeface="Arial" pitchFamily="34" charset="0"/>
              <a:buChar char="•"/>
            </a:pPr>
            <a:endParaRPr lang="en-US" sz="1400" dirty="0"/>
          </a:p>
          <a:p>
            <a:pPr algn="just">
              <a:buFont typeface="Arial" pitchFamily="34" charset="0"/>
              <a:buChar char="•"/>
            </a:pPr>
            <a:r>
              <a:rPr lang="en-US" sz="1400" dirty="0"/>
              <a:t>  Scalable and modular design which can be used for inspection in different areas.</a:t>
            </a:r>
          </a:p>
          <a:p>
            <a:pPr algn="just">
              <a:buFont typeface="Arial" pitchFamily="34" charset="0"/>
              <a:buChar char="•"/>
            </a:pPr>
            <a:endParaRPr lang="en-US" sz="1400" dirty="0"/>
          </a:p>
          <a:p>
            <a:pPr algn="just">
              <a:buFont typeface="Arial" pitchFamily="34" charset="0"/>
              <a:buChar char="•"/>
            </a:pPr>
            <a:r>
              <a:rPr lang="en-US" sz="1400" dirty="0"/>
              <a:t>  Ensure a product which complies with need of  modern industries.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23B77-B087-4156-AAD0-BE51DE876918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0855" y="0"/>
            <a:ext cx="1479743" cy="67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362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02" y="-1"/>
            <a:ext cx="10515600" cy="526474"/>
          </a:xfrm>
        </p:spPr>
        <p:txBody>
          <a:bodyPr vert="horz" lIns="91440" tIns="45720" rIns="91440" bIns="45720" rtlCol="0" anchor="ctr">
            <a:noAutofit/>
          </a:bodyPr>
          <a:lstStyle/>
          <a:p>
            <a:br>
              <a:rPr lang="en-US" altLang="en-US" sz="2200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en-US" sz="2200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Arial" panose="020B0604020202020204" pitchFamily="34" charset="0"/>
              </a:rPr>
              <a:t>	Critical Success Factors (why US?)</a:t>
            </a:r>
          </a:p>
        </p:txBody>
      </p:sp>
      <p:pic>
        <p:nvPicPr>
          <p:cNvPr id="16386" name="Picture 2" descr="https://encrypted-tbn2.gstatic.com/images?q=tbn:ANd9GcQMQUGufafa_4OJ40bdiJ3JIWk_VVs0DQbQAwkM6rj0NvtmVrmhKA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24648" y="1718973"/>
            <a:ext cx="4489181" cy="2852830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7235260"/>
              </p:ext>
            </p:extLst>
          </p:nvPr>
        </p:nvGraphicFramePr>
        <p:xfrm>
          <a:off x="5842000" y="1689484"/>
          <a:ext cx="5301537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1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robot will replace humans at dangerous sites which pose a threat to human life and safety, thus reducing safety hazards.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robot can comply with the modern needs of the industry and can be used for multiple applications.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vl="1"/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8" name="Straight Connector 7"/>
          <p:cNvCxnSpPr/>
          <p:nvPr/>
        </p:nvCxnSpPr>
        <p:spPr>
          <a:xfrm>
            <a:off x="-16956" y="678845"/>
            <a:ext cx="12192000" cy="1385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23B77-B087-4156-AAD0-BE51DE876918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0855" y="0"/>
            <a:ext cx="1479743" cy="67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41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" y="69274"/>
            <a:ext cx="12005730" cy="641923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defRPr/>
            </a:pPr>
            <a:r>
              <a:rPr lang="en-US" altLang="en-US" sz="2200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Arial" panose="020B0604020202020204" pitchFamily="34" charset="0"/>
              </a:rPr>
              <a:t>        Project Results</a:t>
            </a:r>
            <a:endParaRPr lang="en-US" altLang="en-US" sz="2200" b="1" i="1" dirty="0">
              <a:solidFill>
                <a:schemeClr val="accent1">
                  <a:lumMod val="50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456547"/>
              </p:ext>
            </p:extLst>
          </p:nvPr>
        </p:nvGraphicFramePr>
        <p:xfrm>
          <a:off x="1645841" y="1294683"/>
          <a:ext cx="8924762" cy="51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9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5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71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Mechanical design</a:t>
                      </a:r>
                    </a:p>
                    <a:p>
                      <a:pPr lvl="0" algn="ctr"/>
                      <a:endParaRPr lang="en-US" sz="11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Mounts, component placement, material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883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Suction Mechanism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Negative Thrust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883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Locomotion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Gear motors, wheels, drivers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959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Communication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Microcontroller, transmitter and receiver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173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Inspection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Camera, communication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67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6577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Mission planning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Processing IDE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15071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Payload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Application-based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Left Brace 2"/>
          <p:cNvSpPr/>
          <p:nvPr/>
        </p:nvSpPr>
        <p:spPr>
          <a:xfrm>
            <a:off x="1284222" y="1305846"/>
            <a:ext cx="253017" cy="3007497"/>
          </a:xfrm>
          <a:prstGeom prst="leftBrac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Left Brace 5"/>
          <p:cNvSpPr/>
          <p:nvPr/>
        </p:nvSpPr>
        <p:spPr>
          <a:xfrm>
            <a:off x="1264739" y="4804011"/>
            <a:ext cx="304756" cy="1419990"/>
          </a:xfrm>
          <a:prstGeom prst="leftBrace">
            <a:avLst>
              <a:gd name="adj1" fmla="val 0"/>
              <a:gd name="adj2" fmla="val 50000"/>
            </a:avLst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 rot="16200000">
            <a:off x="-506104" y="2779717"/>
            <a:ext cx="3007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B050"/>
                </a:solidFill>
              </a:rPr>
              <a:t>MILESTONE 1:</a:t>
            </a:r>
          </a:p>
          <a:p>
            <a:pPr algn="ctr"/>
            <a:r>
              <a:rPr lang="en-US" sz="1200" dirty="0">
                <a:solidFill>
                  <a:srgbClr val="00B050"/>
                </a:solidFill>
              </a:rPr>
              <a:t>Remote-Controlled Robot</a:t>
            </a:r>
          </a:p>
        </p:txBody>
      </p:sp>
      <p:sp>
        <p:nvSpPr>
          <p:cNvPr id="5" name="TextBox 4"/>
          <p:cNvSpPr txBox="1"/>
          <p:nvPr/>
        </p:nvSpPr>
        <p:spPr>
          <a:xfrm rot="16200000">
            <a:off x="219907" y="5032929"/>
            <a:ext cx="1724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B050"/>
                </a:solidFill>
              </a:rPr>
              <a:t>MILESTONE 2:</a:t>
            </a:r>
          </a:p>
          <a:p>
            <a:r>
              <a:rPr lang="en-US" sz="1200" dirty="0">
                <a:solidFill>
                  <a:srgbClr val="00B050"/>
                </a:solidFill>
              </a:rPr>
              <a:t>Automated Robot</a:t>
            </a:r>
          </a:p>
          <a:p>
            <a:endParaRPr lang="en-US" sz="12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37309"/>
            <a:ext cx="12192000" cy="1385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382586" y="899713"/>
            <a:ext cx="2258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DELIVERABLES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87266" y="927420"/>
            <a:ext cx="2258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CONTENTS</a:t>
            </a:r>
          </a:p>
        </p:txBody>
      </p:sp>
      <p:pic>
        <p:nvPicPr>
          <p:cNvPr id="9218" name="Picture 2" descr="http://thumb7.shutterstock.com/display_pic_with_logo/457558/189092591/stock-vector-deliverables-grunge-rubber-stamp-on-white-vector-illustration-189092591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 l="5421" t="3104" r="2135" b="7766"/>
          <a:stretch>
            <a:fillRect/>
          </a:stretch>
        </p:blipFill>
        <p:spPr bwMode="auto">
          <a:xfrm>
            <a:off x="10849970" y="5144907"/>
            <a:ext cx="968991" cy="975767"/>
          </a:xfrm>
          <a:prstGeom prst="rect">
            <a:avLst/>
          </a:prstGeom>
          <a:noFill/>
        </p:spPr>
      </p:pic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23B77-B087-4156-AAD0-BE51DE876918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0855" y="0"/>
            <a:ext cx="1479743" cy="67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884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6" y="-243860"/>
            <a:ext cx="10515600" cy="1325562"/>
          </a:xfrm>
        </p:spPr>
        <p:txBody>
          <a:bodyPr vert="horz" lIns="91440" tIns="45720" rIns="91440" bIns="45720" rtlCol="0" anchor="ctr">
            <a:noAutofit/>
          </a:bodyPr>
          <a:lstStyle/>
          <a:p>
            <a:pPr fontAlgn="base">
              <a:spcAft>
                <a:spcPct val="0"/>
              </a:spcAft>
              <a:defRPr/>
            </a:pPr>
            <a:r>
              <a:rPr lang="en-US" altLang="en-US" sz="2200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Arial" panose="020B0604020202020204" pitchFamily="34" charset="0"/>
              </a:rPr>
              <a:t>        Ideas for the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618" y="1496300"/>
            <a:ext cx="10515600" cy="435133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/>
              <a:t>Sustainable design with more operating hours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Tethered system for longer time period of inspection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Different mechanisms for climbing vertical surfaces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Implementation of image processing algorithms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A robot for rescue operations such as fire-fighting</a:t>
            </a:r>
          </a:p>
          <a:p>
            <a:endParaRPr lang="en-US" sz="1600" b="1" dirty="0"/>
          </a:p>
        </p:txBody>
      </p:sp>
      <p:pic>
        <p:nvPicPr>
          <p:cNvPr id="6146" name="Picture 2" descr="http://thumbs.dreamstime.com/x/light-bulb-ideas-communication-graphic-featuring-business-technology-icons-inside-38600473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 l="9043" t="2909" r="7252" b="6747"/>
          <a:stretch>
            <a:fillRect/>
          </a:stretch>
        </p:blipFill>
        <p:spPr bwMode="auto">
          <a:xfrm>
            <a:off x="7938655" y="1246904"/>
            <a:ext cx="2590770" cy="3956942"/>
          </a:xfrm>
          <a:prstGeom prst="rect">
            <a:avLst/>
          </a:prstGeom>
          <a:noFill/>
        </p:spPr>
      </p:pic>
      <p:cxnSp>
        <p:nvCxnSpPr>
          <p:cNvPr id="5" name="Straight Connector 4"/>
          <p:cNvCxnSpPr/>
          <p:nvPr/>
        </p:nvCxnSpPr>
        <p:spPr>
          <a:xfrm>
            <a:off x="0" y="637309"/>
            <a:ext cx="12192000" cy="1385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23B77-B087-4156-AAD0-BE51DE876918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0855" y="0"/>
            <a:ext cx="1479743" cy="6728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6" y="-243860"/>
            <a:ext cx="10515600" cy="1325562"/>
          </a:xfrm>
        </p:spPr>
        <p:txBody>
          <a:bodyPr vert="horz" lIns="91440" tIns="45720" rIns="91440" bIns="45720" rtlCol="0" anchor="ctr">
            <a:noAutofit/>
          </a:bodyPr>
          <a:lstStyle/>
          <a:p>
            <a:pPr fontAlgn="base">
              <a:spcAft>
                <a:spcPct val="0"/>
              </a:spcAft>
              <a:defRPr/>
            </a:pPr>
            <a:r>
              <a:rPr lang="en-US" altLang="en-US" sz="2200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Arial" panose="020B0604020202020204" pitchFamily="34" charset="0"/>
              </a:rPr>
              <a:t>       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618" y="1496300"/>
            <a:ext cx="10515600" cy="4351337"/>
          </a:xfrm>
        </p:spPr>
        <p:txBody>
          <a:bodyPr>
            <a:normAutofit/>
          </a:bodyPr>
          <a:lstStyle/>
          <a:p>
            <a:endParaRPr lang="en-US" sz="16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37309"/>
            <a:ext cx="12192000" cy="1385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23B77-B087-4156-AAD0-BE51DE876918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0855" y="0"/>
            <a:ext cx="1479743" cy="67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40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0" y="637309"/>
            <a:ext cx="12192000" cy="1385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6" name="Picture 6" descr="https://www.novell.com/communities/coolsolutions/wp-content/uploads/sites/2/2015/05/Question-and-Answer.pn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33065" y="1775113"/>
            <a:ext cx="4541117" cy="2838199"/>
          </a:xfrm>
          <a:prstGeom prst="rect">
            <a:avLst/>
          </a:prstGeom>
          <a:noFill/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23B77-B087-4156-AAD0-BE51DE876918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0855" y="-21681"/>
            <a:ext cx="1479743" cy="67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460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422</Words>
  <Application>Microsoft Office PowerPoint</Application>
  <PresentationFormat>Widescreen</PresentationFormat>
  <Paragraphs>97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Office Theme</vt:lpstr>
      <vt:lpstr>PowerPoint Presentation</vt:lpstr>
      <vt:lpstr>         Subject Matter Experts Profile</vt:lpstr>
      <vt:lpstr>        Why This Project? Problem Statement</vt:lpstr>
      <vt:lpstr>Agenda</vt:lpstr>
      <vt:lpstr>  Project Goals and Objectives</vt:lpstr>
      <vt:lpstr>  Critical Success Factors (why US?)</vt:lpstr>
      <vt:lpstr>        Project Results</vt:lpstr>
      <vt:lpstr>        Ideas for the Future</vt:lpstr>
      <vt:lpstr>        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 </dc:creator>
  <cp:lastModifiedBy> </cp:lastModifiedBy>
  <cp:revision>8</cp:revision>
  <dcterms:created xsi:type="dcterms:W3CDTF">2020-01-09T05:29:59Z</dcterms:created>
  <dcterms:modified xsi:type="dcterms:W3CDTF">2020-01-09T07:18:21Z</dcterms:modified>
</cp:coreProperties>
</file>