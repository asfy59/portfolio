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Corbel"/>
      <p:regular r:id="rId15"/>
      <p:bold r:id="rId16"/>
      <p:italic r:id="rId17"/>
      <p:boldItalic r:id="rId18"/>
    </p:embeddedFont>
    <p:embeddedFont>
      <p:font typeface="Candar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bold.fntdata"/><Relationship Id="rId11" Type="http://schemas.openxmlformats.org/officeDocument/2006/relationships/slide" Target="slides/slide7.xml"/><Relationship Id="rId22" Type="http://schemas.openxmlformats.org/officeDocument/2006/relationships/font" Target="fonts/Candara-boldItalic.fntdata"/><Relationship Id="rId10" Type="http://schemas.openxmlformats.org/officeDocument/2006/relationships/slide" Target="slides/slide6.xml"/><Relationship Id="rId21" Type="http://schemas.openxmlformats.org/officeDocument/2006/relationships/font" Target="fonts/Candara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bel-regular.fntdata"/><Relationship Id="rId14" Type="http://schemas.openxmlformats.org/officeDocument/2006/relationships/slide" Target="slides/slide10.xml"/><Relationship Id="rId17" Type="http://schemas.openxmlformats.org/officeDocument/2006/relationships/font" Target="fonts/Corbel-italic.fntdata"/><Relationship Id="rId16" Type="http://schemas.openxmlformats.org/officeDocument/2006/relationships/font" Target="fonts/Corbel-bold.fntdata"/><Relationship Id="rId5" Type="http://schemas.openxmlformats.org/officeDocument/2006/relationships/slide" Target="slides/slide1.xml"/><Relationship Id="rId19" Type="http://schemas.openxmlformats.org/officeDocument/2006/relationships/font" Target="fonts/Candara-regular.fntdata"/><Relationship Id="rId6" Type="http://schemas.openxmlformats.org/officeDocument/2006/relationships/slide" Target="slides/slide2.xml"/><Relationship Id="rId18" Type="http://schemas.openxmlformats.org/officeDocument/2006/relationships/font" Target="fonts/Corbel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1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1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5830956" y="422703"/>
            <a:ext cx="6069496" cy="394914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9D9F5"/>
              </a:gs>
              <a:gs pos="100000">
                <a:srgbClr val="75BCEF"/>
              </a:gs>
            </a:gsLst>
            <a:lin ang="5400000" scaled="0"/>
          </a:gradFill>
          <a:ln cap="rnd" cmpd="sng" w="9525">
            <a:solidFill>
              <a:srgbClr val="ABD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Aharoni"/>
                <a:ea typeface="Aharoni"/>
                <a:cs typeface="Aharoni"/>
                <a:sym typeface="Aharoni"/>
              </a:rPr>
              <a:t>“Design and development of a wall traversing robot for inspection purposes”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Aharoni"/>
                <a:ea typeface="Aharoni"/>
                <a:cs typeface="Aharoni"/>
                <a:sym typeface="Aharoni"/>
              </a:rPr>
              <a:t>-CDRB</a:t>
            </a:r>
            <a:endParaRPr b="0" i="0" sz="4000" u="none" cap="none" strike="noStrike">
              <a:solidFill>
                <a:srgbClr val="3F3F3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698435" y="4858433"/>
            <a:ext cx="6493565" cy="1676401"/>
          </a:xfrm>
          <a:prstGeom prst="rect">
            <a:avLst/>
          </a:prstGeom>
          <a:solidFill>
            <a:srgbClr val="1186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5698435" y="5373469"/>
            <a:ext cx="33130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Project Advisor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Capt Dr. Attaullah Y.Memon</a:t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8865704" y="4957969"/>
            <a:ext cx="331304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Group members: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Syed Hasnain Rizvi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Hasan  Rehman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Muhammad Asfandyar Durrani</a:t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Hamis Yawar</a:t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 rot="2710697">
            <a:off x="-445957" y="587316"/>
            <a:ext cx="13462954" cy="5300520"/>
          </a:xfrm>
          <a:custGeom>
            <a:rect b="b" l="l" r="r" t="t"/>
            <a:pathLst>
              <a:path extrusionOk="0" h="5300520" w="13462954">
                <a:moveTo>
                  <a:pt x="4800853" y="0"/>
                </a:moveTo>
                <a:lnTo>
                  <a:pt x="12443810" y="0"/>
                </a:lnTo>
                <a:lnTo>
                  <a:pt x="13462954" y="1012821"/>
                </a:lnTo>
                <a:lnTo>
                  <a:pt x="9201855" y="5300520"/>
                </a:lnTo>
                <a:lnTo>
                  <a:pt x="472629" y="5300520"/>
                </a:lnTo>
                <a:lnTo>
                  <a:pt x="0" y="4830824"/>
                </a:lnTo>
                <a:close/>
              </a:path>
            </a:pathLst>
          </a:custGeom>
          <a:solidFill>
            <a:srgbClr val="1186C3">
              <a:alpha val="74901"/>
            </a:srgbClr>
          </a:solidFill>
          <a:ln cap="rnd" cmpd="sng" w="15875">
            <a:solidFill>
              <a:srgbClr val="118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2349305" y="2307098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What is a wall traversing robot?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2349305" y="3669321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Why do we need it?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2349305" y="503154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Why are we working on it?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Overview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2349305" y="2307098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 type of mobile robot which uses different mechanisms for moving on vertical surfaces.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2349305" y="3669321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Designed with the purpose of fulfilling tasks where surface contact is required.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2349305" y="503154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Inspection and surveillance of difficult places is needed at various organizations.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What is a wall traversing robot?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/>
          <p:nvPr/>
        </p:nvSpPr>
        <p:spPr>
          <a:xfrm>
            <a:off x="2349305" y="2307098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Can perform tasks that a human would deem too dangerous.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2349305" y="3669321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Can reduce a lot of manual and labor work at elevated surfaces. 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2349305" y="503154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Inspection and surveillance of difficult places is needed at various organizations.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Why do we need it?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2349305" y="2307098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It is a field with enormous untapped potential.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2349305" y="3669321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It requires solid innovations, critical analysis and creative thinking.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2349305" y="503154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Demand of multiple axis moving robot is high and it is a good prospect for start up.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Why are we working on it?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/>
        </p:nvSpPr>
        <p:spPr>
          <a:xfrm>
            <a:off x="894647" y="2570915"/>
            <a:ext cx="4047793" cy="299469"/>
          </a:xfrm>
          <a:custGeom>
            <a:rect b="b" l="l" r="r" t="t"/>
            <a:pathLst>
              <a:path extrusionOk="0" h="299469" w="4047793">
                <a:moveTo>
                  <a:pt x="810944" y="0"/>
                </a:moveTo>
                <a:lnTo>
                  <a:pt x="4047793" y="0"/>
                </a:lnTo>
                <a:lnTo>
                  <a:pt x="4047793" y="299468"/>
                </a:lnTo>
                <a:lnTo>
                  <a:pt x="3379384" y="299468"/>
                </a:lnTo>
                <a:lnTo>
                  <a:pt x="3379384" y="299469"/>
                </a:lnTo>
                <a:lnTo>
                  <a:pt x="156059" y="299469"/>
                </a:lnTo>
                <a:lnTo>
                  <a:pt x="0" y="152991"/>
                </a:lnTo>
                <a:lnTo>
                  <a:pt x="142535" y="1"/>
                </a:lnTo>
                <a:lnTo>
                  <a:pt x="810943" y="1"/>
                </a:lnTo>
                <a:close/>
              </a:path>
            </a:pathLst>
          </a:custGeom>
          <a:solidFill>
            <a:srgbClr val="FE4A1E"/>
          </a:solidFill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894647" y="2965686"/>
            <a:ext cx="4047793" cy="299469"/>
          </a:xfrm>
          <a:custGeom>
            <a:rect b="b" l="l" r="r" t="t"/>
            <a:pathLst>
              <a:path extrusionOk="0" h="299469" w="4047793">
                <a:moveTo>
                  <a:pt x="810944" y="0"/>
                </a:moveTo>
                <a:lnTo>
                  <a:pt x="4047793" y="0"/>
                </a:lnTo>
                <a:lnTo>
                  <a:pt x="4047793" y="299468"/>
                </a:lnTo>
                <a:lnTo>
                  <a:pt x="3379384" y="299468"/>
                </a:lnTo>
                <a:lnTo>
                  <a:pt x="3379384" y="299469"/>
                </a:lnTo>
                <a:lnTo>
                  <a:pt x="156059" y="299469"/>
                </a:lnTo>
                <a:lnTo>
                  <a:pt x="0" y="152991"/>
                </a:lnTo>
                <a:lnTo>
                  <a:pt x="142535" y="1"/>
                </a:lnTo>
                <a:lnTo>
                  <a:pt x="810943" y="1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894647" y="3338423"/>
            <a:ext cx="4047793" cy="299469"/>
          </a:xfrm>
          <a:custGeom>
            <a:rect b="b" l="l" r="r" t="t"/>
            <a:pathLst>
              <a:path extrusionOk="0" h="299469" w="4047793">
                <a:moveTo>
                  <a:pt x="810944" y="0"/>
                </a:moveTo>
                <a:lnTo>
                  <a:pt x="4047793" y="0"/>
                </a:lnTo>
                <a:lnTo>
                  <a:pt x="4047793" y="299468"/>
                </a:lnTo>
                <a:lnTo>
                  <a:pt x="3379384" y="299468"/>
                </a:lnTo>
                <a:lnTo>
                  <a:pt x="3379384" y="299469"/>
                </a:lnTo>
                <a:lnTo>
                  <a:pt x="156059" y="299469"/>
                </a:lnTo>
                <a:lnTo>
                  <a:pt x="0" y="152991"/>
                </a:lnTo>
                <a:lnTo>
                  <a:pt x="142535" y="1"/>
                </a:lnTo>
                <a:lnTo>
                  <a:pt x="810943" y="1"/>
                </a:lnTo>
                <a:close/>
              </a:path>
            </a:pathLst>
          </a:custGeom>
          <a:solidFill>
            <a:srgbClr val="44546B"/>
          </a:solidFill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894647" y="3743031"/>
            <a:ext cx="4047793" cy="299469"/>
          </a:xfrm>
          <a:custGeom>
            <a:rect b="b" l="l" r="r" t="t"/>
            <a:pathLst>
              <a:path extrusionOk="0" h="299469" w="4047793">
                <a:moveTo>
                  <a:pt x="810944" y="0"/>
                </a:moveTo>
                <a:lnTo>
                  <a:pt x="4047793" y="0"/>
                </a:lnTo>
                <a:lnTo>
                  <a:pt x="4047793" y="299468"/>
                </a:lnTo>
                <a:lnTo>
                  <a:pt x="3379384" y="299468"/>
                </a:lnTo>
                <a:lnTo>
                  <a:pt x="3379384" y="299469"/>
                </a:lnTo>
                <a:lnTo>
                  <a:pt x="156059" y="299469"/>
                </a:lnTo>
                <a:lnTo>
                  <a:pt x="0" y="152991"/>
                </a:lnTo>
                <a:lnTo>
                  <a:pt x="142535" y="1"/>
                </a:lnTo>
                <a:lnTo>
                  <a:pt x="810943" y="1"/>
                </a:lnTo>
                <a:close/>
              </a:path>
            </a:pathLst>
          </a:custGeom>
          <a:solidFill>
            <a:srgbClr val="7A7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894647" y="4114588"/>
            <a:ext cx="4047793" cy="299469"/>
          </a:xfrm>
          <a:custGeom>
            <a:rect b="b" l="l" r="r" t="t"/>
            <a:pathLst>
              <a:path extrusionOk="0" h="299469" w="4047793">
                <a:moveTo>
                  <a:pt x="810944" y="0"/>
                </a:moveTo>
                <a:lnTo>
                  <a:pt x="4047793" y="0"/>
                </a:lnTo>
                <a:lnTo>
                  <a:pt x="4047793" y="299468"/>
                </a:lnTo>
                <a:lnTo>
                  <a:pt x="3379384" y="299468"/>
                </a:lnTo>
                <a:lnTo>
                  <a:pt x="3379384" y="299469"/>
                </a:lnTo>
                <a:lnTo>
                  <a:pt x="156059" y="299469"/>
                </a:lnTo>
                <a:lnTo>
                  <a:pt x="0" y="152991"/>
                </a:lnTo>
                <a:lnTo>
                  <a:pt x="142535" y="1"/>
                </a:lnTo>
                <a:lnTo>
                  <a:pt x="810943" y="1"/>
                </a:ln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6665205" y="832265"/>
            <a:ext cx="5526795" cy="1132516"/>
          </a:xfrm>
          <a:prstGeom prst="rect">
            <a:avLst/>
          </a:prstGeom>
          <a:solidFill>
            <a:srgbClr val="FE4A1E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6665205" y="2043219"/>
            <a:ext cx="5526795" cy="1132516"/>
          </a:xfrm>
          <a:prstGeom prst="rect">
            <a:avLst/>
          </a:prstGeom>
          <a:solidFill>
            <a:srgbClr val="5C9AD3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6665203" y="3281543"/>
            <a:ext cx="5526795" cy="1132516"/>
          </a:xfrm>
          <a:prstGeom prst="rect">
            <a:avLst/>
          </a:prstGeom>
          <a:solidFill>
            <a:srgbClr val="44546B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665202" y="4503514"/>
            <a:ext cx="5526795" cy="1132516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6665201" y="5725485"/>
            <a:ext cx="5526795" cy="1132516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5" name="Google Shape;205;p26"/>
          <p:cNvSpPr/>
          <p:nvPr/>
        </p:nvSpPr>
        <p:spPr>
          <a:xfrm rot="-1832798">
            <a:off x="4564266" y="1411589"/>
            <a:ext cx="2523446" cy="976145"/>
          </a:xfrm>
          <a:custGeom>
            <a:rect b="b" l="l" r="r" t="t"/>
            <a:pathLst>
              <a:path extrusionOk="0" h="976145" w="2523446">
                <a:moveTo>
                  <a:pt x="2523446" y="0"/>
                </a:moveTo>
                <a:lnTo>
                  <a:pt x="2523446" y="1296"/>
                </a:lnTo>
                <a:lnTo>
                  <a:pt x="1951372" y="970678"/>
                </a:lnTo>
                <a:lnTo>
                  <a:pt x="1960635" y="976145"/>
                </a:lnTo>
                <a:lnTo>
                  <a:pt x="0" y="874081"/>
                </a:lnTo>
                <a:lnTo>
                  <a:pt x="148110" y="623106"/>
                </a:lnTo>
                <a:lnTo>
                  <a:pt x="147504" y="622748"/>
                </a:lnTo>
                <a:lnTo>
                  <a:pt x="2477100" y="0"/>
                </a:lnTo>
                <a:close/>
              </a:path>
            </a:pathLst>
          </a:custGeom>
          <a:solidFill>
            <a:srgbClr val="E02C00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4935558" y="2054235"/>
            <a:ext cx="1927950" cy="1214126"/>
          </a:xfrm>
          <a:custGeom>
            <a:rect b="b" l="l" r="r" t="t"/>
            <a:pathLst>
              <a:path extrusionOk="0" h="1214126" w="1927950">
                <a:moveTo>
                  <a:pt x="1719247" y="0"/>
                </a:moveTo>
                <a:lnTo>
                  <a:pt x="1927950" y="0"/>
                </a:lnTo>
                <a:lnTo>
                  <a:pt x="1927950" y="1"/>
                </a:lnTo>
                <a:lnTo>
                  <a:pt x="1729647" y="1"/>
                </a:lnTo>
                <a:lnTo>
                  <a:pt x="1729647" y="1128377"/>
                </a:lnTo>
                <a:lnTo>
                  <a:pt x="0" y="1214126"/>
                </a:lnTo>
                <a:lnTo>
                  <a:pt x="0" y="909398"/>
                </a:lnTo>
                <a:close/>
              </a:path>
            </a:pathLst>
          </a:custGeom>
          <a:solidFill>
            <a:srgbClr val="3E7CB5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7" name="Google Shape;207;p26"/>
          <p:cNvSpPr/>
          <p:nvPr/>
        </p:nvSpPr>
        <p:spPr>
          <a:xfrm rot="-120000">
            <a:off x="4944112" y="3310838"/>
            <a:ext cx="1741011" cy="1111104"/>
          </a:xfrm>
          <a:custGeom>
            <a:rect b="b" l="l" r="r" t="t"/>
            <a:pathLst>
              <a:path extrusionOk="0" h="1111104" w="1741011">
                <a:moveTo>
                  <a:pt x="1741011" y="0"/>
                </a:moveTo>
                <a:lnTo>
                  <a:pt x="1702211" y="1111104"/>
                </a:lnTo>
                <a:lnTo>
                  <a:pt x="1672721" y="1111104"/>
                </a:lnTo>
                <a:lnTo>
                  <a:pt x="0" y="295263"/>
                </a:lnTo>
                <a:lnTo>
                  <a:pt x="10311" y="0"/>
                </a:lnTo>
                <a:close/>
              </a:path>
            </a:pathLst>
          </a:custGeom>
          <a:solidFill>
            <a:srgbClr val="26364D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8" name="Google Shape;208;p26"/>
          <p:cNvSpPr/>
          <p:nvPr/>
        </p:nvSpPr>
        <p:spPr>
          <a:xfrm rot="2628624">
            <a:off x="4726241" y="4029883"/>
            <a:ext cx="2559369" cy="877626"/>
          </a:xfrm>
          <a:custGeom>
            <a:rect b="b" l="l" r="r" t="t"/>
            <a:pathLst>
              <a:path extrusionOk="0" h="877626" w="2559369">
                <a:moveTo>
                  <a:pt x="0" y="651016"/>
                </a:moveTo>
                <a:lnTo>
                  <a:pt x="1772314" y="0"/>
                </a:lnTo>
                <a:lnTo>
                  <a:pt x="2559369" y="820435"/>
                </a:lnTo>
                <a:lnTo>
                  <a:pt x="2559369" y="826561"/>
                </a:lnTo>
                <a:lnTo>
                  <a:pt x="217390" y="877626"/>
                </a:lnTo>
                <a:close/>
              </a:path>
            </a:pathLst>
          </a:custGeom>
          <a:solidFill>
            <a:srgbClr val="5C5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9" name="Google Shape;209;p26"/>
          <p:cNvSpPr/>
          <p:nvPr/>
        </p:nvSpPr>
        <p:spPr>
          <a:xfrm rot="3053454">
            <a:off x="4321389" y="5020977"/>
            <a:ext cx="3211925" cy="717143"/>
          </a:xfrm>
          <a:custGeom>
            <a:rect b="b" l="l" r="r" t="t"/>
            <a:pathLst>
              <a:path extrusionOk="0" h="717143" w="3211925">
                <a:moveTo>
                  <a:pt x="0" y="331192"/>
                </a:moveTo>
                <a:lnTo>
                  <a:pt x="2343287" y="0"/>
                </a:lnTo>
                <a:lnTo>
                  <a:pt x="2339826" y="4257"/>
                </a:lnTo>
                <a:lnTo>
                  <a:pt x="3211925" y="713222"/>
                </a:lnTo>
                <a:lnTo>
                  <a:pt x="3211925" y="717143"/>
                </a:lnTo>
                <a:lnTo>
                  <a:pt x="224453" y="527387"/>
                </a:lnTo>
                <a:lnTo>
                  <a:pt x="231173" y="51912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2078647" y="2541238"/>
            <a:ext cx="259567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Surveillance </a:t>
            </a:r>
            <a:endParaRPr/>
          </a:p>
        </p:txBody>
      </p:sp>
      <p:sp>
        <p:nvSpPr>
          <p:cNvPr id="211" name="Google Shape;211;p26"/>
          <p:cNvSpPr txBox="1"/>
          <p:nvPr/>
        </p:nvSpPr>
        <p:spPr>
          <a:xfrm>
            <a:off x="963603" y="2540031"/>
            <a:ext cx="7109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6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2084494" y="2946623"/>
            <a:ext cx="259567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Pattern Drawing </a:t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959975" y="2945822"/>
            <a:ext cx="7109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6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2058968" y="3298850"/>
            <a:ext cx="259567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Fire rescue</a:t>
            </a:r>
            <a:endParaRPr/>
          </a:p>
        </p:txBody>
      </p:sp>
      <p:sp>
        <p:nvSpPr>
          <p:cNvPr id="215" name="Google Shape;215;p26"/>
          <p:cNvSpPr txBox="1"/>
          <p:nvPr/>
        </p:nvSpPr>
        <p:spPr>
          <a:xfrm>
            <a:off x="953682" y="3298353"/>
            <a:ext cx="7109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6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2049585" y="3743805"/>
            <a:ext cx="259567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Cleaning</a:t>
            </a:r>
            <a:endParaRPr/>
          </a:p>
        </p:txBody>
      </p:sp>
      <p:sp>
        <p:nvSpPr>
          <p:cNvPr id="217" name="Google Shape;217;p26"/>
          <p:cNvSpPr txBox="1"/>
          <p:nvPr/>
        </p:nvSpPr>
        <p:spPr>
          <a:xfrm>
            <a:off x="959975" y="3717753"/>
            <a:ext cx="7109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6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023781" y="4107732"/>
            <a:ext cx="32747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Videography</a:t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962444" y="4092323"/>
            <a:ext cx="7109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sz="16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20" name="Google Shape;220;p26"/>
          <p:cNvGrpSpPr/>
          <p:nvPr/>
        </p:nvGrpSpPr>
        <p:grpSpPr>
          <a:xfrm>
            <a:off x="6862226" y="1050426"/>
            <a:ext cx="5218293" cy="838781"/>
            <a:chOff x="6862226" y="912224"/>
            <a:chExt cx="5218293" cy="838781"/>
          </a:xfrm>
        </p:grpSpPr>
        <p:sp>
          <p:nvSpPr>
            <p:cNvPr id="221" name="Google Shape;221;p26"/>
            <p:cNvSpPr txBox="1"/>
            <p:nvPr/>
          </p:nvSpPr>
          <p:spPr>
            <a:xfrm>
              <a:off x="6862226" y="912224"/>
              <a:ext cx="95910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01</a:t>
              </a: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7700790" y="947451"/>
              <a:ext cx="45719" cy="60592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3" name="Google Shape;223;p26"/>
            <p:cNvSpPr txBox="1"/>
            <p:nvPr/>
          </p:nvSpPr>
          <p:spPr>
            <a:xfrm>
              <a:off x="7909922" y="1073897"/>
              <a:ext cx="4170597" cy="677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60950" spcFirstLastPara="1" rIns="60950" wrap="square" tIns="30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Inspection on elevated surfaces, nuclear sites, etc.  </a:t>
              </a:r>
              <a:endParaRPr/>
            </a:p>
          </p:txBody>
        </p:sp>
      </p:grpSp>
      <p:grpSp>
        <p:nvGrpSpPr>
          <p:cNvPr id="224" name="Google Shape;224;p26"/>
          <p:cNvGrpSpPr/>
          <p:nvPr/>
        </p:nvGrpSpPr>
        <p:grpSpPr>
          <a:xfrm>
            <a:off x="6862226" y="2254920"/>
            <a:ext cx="5229738" cy="830997"/>
            <a:chOff x="6862226" y="925706"/>
            <a:chExt cx="5229738" cy="830997"/>
          </a:xfrm>
        </p:grpSpPr>
        <p:sp>
          <p:nvSpPr>
            <p:cNvPr id="225" name="Google Shape;225;p26"/>
            <p:cNvSpPr txBox="1"/>
            <p:nvPr/>
          </p:nvSpPr>
          <p:spPr>
            <a:xfrm>
              <a:off x="6862226" y="925706"/>
              <a:ext cx="95910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02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7700790" y="947451"/>
              <a:ext cx="45719" cy="60592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7" name="Google Shape;227;p26"/>
            <p:cNvSpPr txBox="1"/>
            <p:nvPr/>
          </p:nvSpPr>
          <p:spPr>
            <a:xfrm>
              <a:off x="7921367" y="949107"/>
              <a:ext cx="4170597" cy="677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60950" spcFirstLastPara="1" rIns="60950" wrap="square" tIns="30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Painting and sketching on walls, ships etc.</a:t>
              </a:r>
              <a:endParaRPr/>
            </a:p>
          </p:txBody>
        </p:sp>
      </p:grpSp>
      <p:grpSp>
        <p:nvGrpSpPr>
          <p:cNvPr id="228" name="Google Shape;228;p26"/>
          <p:cNvGrpSpPr/>
          <p:nvPr/>
        </p:nvGrpSpPr>
        <p:grpSpPr>
          <a:xfrm>
            <a:off x="6874726" y="3460736"/>
            <a:ext cx="5183853" cy="836141"/>
            <a:chOff x="6862226" y="886024"/>
            <a:chExt cx="5183853" cy="836141"/>
          </a:xfrm>
        </p:grpSpPr>
        <p:sp>
          <p:nvSpPr>
            <p:cNvPr id="229" name="Google Shape;229;p26"/>
            <p:cNvSpPr txBox="1"/>
            <p:nvPr/>
          </p:nvSpPr>
          <p:spPr>
            <a:xfrm>
              <a:off x="6862226" y="891168"/>
              <a:ext cx="95910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03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7700790" y="947451"/>
              <a:ext cx="45719" cy="60592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1" name="Google Shape;231;p26"/>
            <p:cNvSpPr txBox="1"/>
            <p:nvPr/>
          </p:nvSpPr>
          <p:spPr>
            <a:xfrm>
              <a:off x="7875482" y="886024"/>
              <a:ext cx="4170597" cy="677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60950" spcFirstLastPara="1" rIns="60950" wrap="square" tIns="30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Ability to traverse in locations where human activity is dangerous.</a:t>
              </a:r>
              <a:endParaRPr/>
            </a:p>
          </p:txBody>
        </p:sp>
      </p:grpSp>
      <p:grpSp>
        <p:nvGrpSpPr>
          <p:cNvPr id="232" name="Google Shape;232;p26"/>
          <p:cNvGrpSpPr/>
          <p:nvPr/>
        </p:nvGrpSpPr>
        <p:grpSpPr>
          <a:xfrm>
            <a:off x="6752261" y="4745908"/>
            <a:ext cx="5355460" cy="830997"/>
            <a:chOff x="6739761" y="932512"/>
            <a:chExt cx="5355460" cy="830997"/>
          </a:xfrm>
        </p:grpSpPr>
        <p:sp>
          <p:nvSpPr>
            <p:cNvPr id="233" name="Google Shape;233;p26"/>
            <p:cNvSpPr txBox="1"/>
            <p:nvPr/>
          </p:nvSpPr>
          <p:spPr>
            <a:xfrm>
              <a:off x="6739761" y="932512"/>
              <a:ext cx="1101708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04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7700790" y="947451"/>
              <a:ext cx="45719" cy="60592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5" name="Google Shape;235;p26"/>
            <p:cNvSpPr txBox="1"/>
            <p:nvPr/>
          </p:nvSpPr>
          <p:spPr>
            <a:xfrm>
              <a:off x="7924624" y="940644"/>
              <a:ext cx="41705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60950" spcFirstLastPara="1" rIns="60950" wrap="square" tIns="30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Cleaning of high rise glass buildings.</a:t>
              </a:r>
              <a:endParaRPr/>
            </a:p>
          </p:txBody>
        </p:sp>
      </p:grpSp>
      <p:grpSp>
        <p:nvGrpSpPr>
          <p:cNvPr id="236" name="Google Shape;236;p26"/>
          <p:cNvGrpSpPr/>
          <p:nvPr/>
        </p:nvGrpSpPr>
        <p:grpSpPr>
          <a:xfrm>
            <a:off x="6823562" y="5963585"/>
            <a:ext cx="5268402" cy="834760"/>
            <a:chOff x="6823562" y="943688"/>
            <a:chExt cx="5268402" cy="834760"/>
          </a:xfrm>
        </p:grpSpPr>
        <p:sp>
          <p:nvSpPr>
            <p:cNvPr id="237" name="Google Shape;237;p26"/>
            <p:cNvSpPr txBox="1"/>
            <p:nvPr/>
          </p:nvSpPr>
          <p:spPr>
            <a:xfrm>
              <a:off x="6823562" y="947451"/>
              <a:ext cx="95910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05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7700790" y="947451"/>
              <a:ext cx="45719" cy="60592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9" name="Google Shape;239;p26"/>
            <p:cNvSpPr txBox="1"/>
            <p:nvPr/>
          </p:nvSpPr>
          <p:spPr>
            <a:xfrm>
              <a:off x="7921367" y="943688"/>
              <a:ext cx="4170597" cy="677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60950" spcFirstLastPara="1" rIns="60950" wrap="square" tIns="30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Capturing photos and videos from complicated and wide angles.</a:t>
              </a:r>
              <a:endParaRPr/>
            </a:p>
          </p:txBody>
        </p:sp>
      </p:grpSp>
      <p:sp>
        <p:nvSpPr>
          <p:cNvPr id="240" name="Google Shape;240;p26"/>
          <p:cNvSpPr/>
          <p:nvPr/>
        </p:nvSpPr>
        <p:spPr>
          <a:xfrm>
            <a:off x="393392" y="310175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Applications</a:t>
            </a:r>
            <a:endParaRPr sz="5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734771" y="10162"/>
            <a:ext cx="5574118" cy="6817360"/>
          </a:xfrm>
          <a:custGeom>
            <a:rect b="b" l="l" r="r" t="t"/>
            <a:pathLst>
              <a:path extrusionOk="0" h="6857999" w="5574118">
                <a:moveTo>
                  <a:pt x="1715388" y="0"/>
                </a:moveTo>
                <a:lnTo>
                  <a:pt x="3859618" y="0"/>
                </a:lnTo>
                <a:lnTo>
                  <a:pt x="5574118" y="6857999"/>
                </a:lnTo>
                <a:lnTo>
                  <a:pt x="0" y="6857999"/>
                </a:lnTo>
                <a:lnTo>
                  <a:pt x="0" y="6857996"/>
                </a:lnTo>
                <a:lnTo>
                  <a:pt x="3429887" y="6857996"/>
                </a:lnTo>
                <a:close/>
              </a:path>
            </a:pathLst>
          </a:custGeom>
          <a:solidFill>
            <a:srgbClr val="0B5982">
              <a:alpha val="8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3091970" y="2458719"/>
            <a:ext cx="3567425" cy="4389120"/>
          </a:xfrm>
          <a:custGeom>
            <a:rect b="b" l="l" r="r" t="t"/>
            <a:pathLst>
              <a:path extrusionOk="0" h="5062577" w="4114800">
                <a:moveTo>
                  <a:pt x="0" y="5062575"/>
                </a:moveTo>
                <a:lnTo>
                  <a:pt x="1477656" y="5062575"/>
                </a:lnTo>
                <a:lnTo>
                  <a:pt x="1477656" y="5062577"/>
                </a:lnTo>
                <a:lnTo>
                  <a:pt x="0" y="5062577"/>
                </a:lnTo>
                <a:close/>
                <a:moveTo>
                  <a:pt x="1865232" y="0"/>
                </a:moveTo>
                <a:lnTo>
                  <a:pt x="2849161" y="0"/>
                </a:lnTo>
                <a:lnTo>
                  <a:pt x="4114800" y="5062577"/>
                </a:lnTo>
                <a:lnTo>
                  <a:pt x="3130871" y="5062577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5789274" y="248070"/>
            <a:ext cx="55089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rPr>
              <a:t>Problem Statement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6618755" y="1004098"/>
            <a:ext cx="483847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E68FB6"/>
                </a:solidFill>
                <a:latin typeface="Candara"/>
                <a:ea typeface="Candara"/>
                <a:cs typeface="Candara"/>
                <a:sym typeface="Candara"/>
              </a:rPr>
              <a:t>Objective</a:t>
            </a:r>
            <a:r>
              <a:rPr b="1" lang="en-US" sz="5400">
                <a:solidFill>
                  <a:srgbClr val="FE4A1E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b="1" sz="6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31A88"/>
                </a:solidFill>
                <a:latin typeface="Calibri"/>
                <a:ea typeface="Calibri"/>
                <a:cs typeface="Calibri"/>
                <a:sym typeface="Calibri"/>
              </a:rPr>
              <a:t>The aim is to develop a four wheeled mobile robot that is capable of traversing on a vertical surface in any direction, according to user instructions or autonomously.</a:t>
            </a:r>
            <a:endParaRPr/>
          </a:p>
        </p:txBody>
      </p:sp>
      <p:grpSp>
        <p:nvGrpSpPr>
          <p:cNvPr id="249" name="Google Shape;249;p27"/>
          <p:cNvGrpSpPr/>
          <p:nvPr/>
        </p:nvGrpSpPr>
        <p:grpSpPr>
          <a:xfrm>
            <a:off x="7180359" y="3126525"/>
            <a:ext cx="3761404" cy="3483403"/>
            <a:chOff x="915147" y="39029"/>
            <a:chExt cx="3761404" cy="3483403"/>
          </a:xfrm>
        </p:grpSpPr>
        <p:sp>
          <p:nvSpPr>
            <p:cNvPr id="250" name="Google Shape;250;p27"/>
            <p:cNvSpPr/>
            <p:nvPr/>
          </p:nvSpPr>
          <p:spPr>
            <a:xfrm>
              <a:off x="915147" y="43403"/>
              <a:ext cx="2113137" cy="2113107"/>
            </a:xfrm>
            <a:prstGeom prst="ellipse">
              <a:avLst/>
            </a:prstGeom>
            <a:solidFill>
              <a:srgbClr val="44546B">
                <a:alpha val="49803"/>
              </a:srgbClr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7"/>
            <p:cNvSpPr txBox="1"/>
            <p:nvPr/>
          </p:nvSpPr>
          <p:spPr>
            <a:xfrm>
              <a:off x="1224609" y="352860"/>
              <a:ext cx="1494213" cy="1494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Mobility</a:t>
              </a:r>
              <a:endParaRPr/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1731133" y="1409325"/>
              <a:ext cx="2113137" cy="2113107"/>
            </a:xfrm>
            <a:prstGeom prst="ellipse">
              <a:avLst/>
            </a:prstGeom>
            <a:solidFill>
              <a:srgbClr val="FE4A1E">
                <a:alpha val="48627"/>
              </a:srgbClr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7"/>
            <p:cNvSpPr txBox="1"/>
            <p:nvPr/>
          </p:nvSpPr>
          <p:spPr>
            <a:xfrm>
              <a:off x="2040595" y="1718782"/>
              <a:ext cx="1494213" cy="1494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Versatility</a:t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2563414" y="39029"/>
              <a:ext cx="2113137" cy="2113107"/>
            </a:xfrm>
            <a:prstGeom prst="ellipse">
              <a:avLst/>
            </a:prstGeom>
            <a:solidFill>
              <a:srgbClr val="5C9AD3">
                <a:alpha val="69803"/>
              </a:srgbClr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 txBox="1"/>
            <p:nvPr/>
          </p:nvSpPr>
          <p:spPr>
            <a:xfrm>
              <a:off x="2872876" y="348486"/>
              <a:ext cx="1494213" cy="1494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Stability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8"/>
          <p:cNvGrpSpPr/>
          <p:nvPr/>
        </p:nvGrpSpPr>
        <p:grpSpPr>
          <a:xfrm>
            <a:off x="5314031" y="1245497"/>
            <a:ext cx="2311850" cy="2183503"/>
            <a:chOff x="335615" y="1028218"/>
            <a:chExt cx="5395334" cy="5095799"/>
          </a:xfrm>
        </p:grpSpPr>
        <p:grpSp>
          <p:nvGrpSpPr>
            <p:cNvPr id="261" name="Google Shape;261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62" name="Google Shape;262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63" name="Google Shape;263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7A7A7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64" name="Google Shape;264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65" name="Google Shape;265;p28"/>
          <p:cNvGrpSpPr/>
          <p:nvPr/>
        </p:nvGrpSpPr>
        <p:grpSpPr>
          <a:xfrm>
            <a:off x="7159678" y="2337248"/>
            <a:ext cx="2311850" cy="2183503"/>
            <a:chOff x="335615" y="1028218"/>
            <a:chExt cx="5395334" cy="5095799"/>
          </a:xfrm>
        </p:grpSpPr>
        <p:grpSp>
          <p:nvGrpSpPr>
            <p:cNvPr id="266" name="Google Shape;266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67" name="Google Shape;267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68" name="Google Shape;268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69" name="Google Shape;269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70" name="Google Shape;270;p28"/>
          <p:cNvGrpSpPr/>
          <p:nvPr/>
        </p:nvGrpSpPr>
        <p:grpSpPr>
          <a:xfrm>
            <a:off x="5349596" y="3465601"/>
            <a:ext cx="2311850" cy="2183503"/>
            <a:chOff x="335615" y="1028218"/>
            <a:chExt cx="5395334" cy="5095799"/>
          </a:xfrm>
        </p:grpSpPr>
        <p:grpSp>
          <p:nvGrpSpPr>
            <p:cNvPr id="271" name="Google Shape;271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72" name="Google Shape;272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73" name="Google Shape;273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74" name="Google Shape;274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75" name="Google Shape;275;p28"/>
          <p:cNvGrpSpPr/>
          <p:nvPr/>
        </p:nvGrpSpPr>
        <p:grpSpPr>
          <a:xfrm>
            <a:off x="3501731" y="2422040"/>
            <a:ext cx="2311850" cy="2183503"/>
            <a:chOff x="335615" y="1028218"/>
            <a:chExt cx="5395334" cy="5095799"/>
          </a:xfrm>
        </p:grpSpPr>
        <p:grpSp>
          <p:nvGrpSpPr>
            <p:cNvPr id="276" name="Google Shape;276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77" name="Google Shape;277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78" name="Google Shape;278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4454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79" name="Google Shape;279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80" name="Google Shape;280;p28"/>
          <p:cNvGrpSpPr/>
          <p:nvPr/>
        </p:nvGrpSpPr>
        <p:grpSpPr>
          <a:xfrm>
            <a:off x="9618593" y="2298929"/>
            <a:ext cx="2311850" cy="2183503"/>
            <a:chOff x="335615" y="1028218"/>
            <a:chExt cx="5395334" cy="5095799"/>
          </a:xfrm>
        </p:grpSpPr>
        <p:grpSp>
          <p:nvGrpSpPr>
            <p:cNvPr id="281" name="Google Shape;281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82" name="Google Shape;282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83" name="Google Shape;283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5C9AD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84" name="Google Shape;284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85" name="Google Shape;285;p28"/>
          <p:cNvGrpSpPr/>
          <p:nvPr/>
        </p:nvGrpSpPr>
        <p:grpSpPr>
          <a:xfrm>
            <a:off x="1472516" y="3545944"/>
            <a:ext cx="2311850" cy="2183503"/>
            <a:chOff x="335615" y="1028218"/>
            <a:chExt cx="5395334" cy="5095799"/>
          </a:xfrm>
        </p:grpSpPr>
        <p:grpSp>
          <p:nvGrpSpPr>
            <p:cNvPr id="286" name="Google Shape;286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87" name="Google Shape;287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88" name="Google Shape;288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FE4A1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89" name="Google Shape;289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90" name="Google Shape;290;p28"/>
          <p:cNvSpPr txBox="1"/>
          <p:nvPr/>
        </p:nvSpPr>
        <p:spPr>
          <a:xfrm>
            <a:off x="10273065" y="3260576"/>
            <a:ext cx="10891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Path Planning</a:t>
            </a:r>
            <a:endParaRPr sz="1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2023208" y="4427836"/>
            <a:ext cx="118236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Mechanical Design</a:t>
            </a:r>
            <a:endParaRPr sz="1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4076020" y="3361277"/>
            <a:ext cx="116345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Negative </a:t>
            </a:r>
            <a:b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Thrust</a:t>
            </a:r>
            <a:endParaRPr sz="1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5971702" y="2175819"/>
            <a:ext cx="10051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Locomotion</a:t>
            </a:r>
            <a:endParaRPr sz="1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7681283" y="3226039"/>
            <a:ext cx="12205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Kinematics Analysis</a:t>
            </a:r>
            <a:endParaRPr sz="1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5956444" y="4341908"/>
            <a:ext cx="109815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Remote Control</a:t>
            </a:r>
            <a:endParaRPr sz="1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96" name="Google Shape;296;p28"/>
          <p:cNvGrpSpPr/>
          <p:nvPr/>
        </p:nvGrpSpPr>
        <p:grpSpPr>
          <a:xfrm>
            <a:off x="1443243" y="1320128"/>
            <a:ext cx="2311850" cy="2183503"/>
            <a:chOff x="335615" y="1028218"/>
            <a:chExt cx="5395334" cy="5095799"/>
          </a:xfrm>
        </p:grpSpPr>
        <p:grpSp>
          <p:nvGrpSpPr>
            <p:cNvPr id="297" name="Google Shape;297;p28"/>
            <p:cNvGrpSpPr/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98" name="Google Shape;298;p28"/>
              <p:cNvSpPr/>
              <p:nvPr/>
            </p:nvSpPr>
            <p:spPr>
              <a:xfrm>
                <a:off x="6330862" y="503694"/>
                <a:ext cx="5395334" cy="5095799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99" name="Google Shape;299;p28"/>
              <p:cNvSpPr/>
              <p:nvPr/>
            </p:nvSpPr>
            <p:spPr>
              <a:xfrm>
                <a:off x="6801786" y="948473"/>
                <a:ext cx="4453485" cy="4206240"/>
              </a:xfrm>
              <a:custGeom>
                <a:rect b="b" l="l" r="r" t="t"/>
                <a:pathLst>
                  <a:path extrusionOk="0" h="5095799" w="5395334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FE4A1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300" name="Google Shape;300;p28"/>
            <p:cNvSpPr/>
            <p:nvPr/>
          </p:nvSpPr>
          <p:spPr>
            <a:xfrm>
              <a:off x="1295921" y="1935281"/>
              <a:ext cx="3474720" cy="3281813"/>
            </a:xfrm>
            <a:custGeom>
              <a:rect b="b" l="l" r="r" t="t"/>
              <a:pathLst>
                <a:path extrusionOk="0" h="5095799" w="5395334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dk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Electronics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Design</a:t>
              </a:r>
              <a:endParaRPr sz="1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01" name="Google Shape;301;p28"/>
          <p:cNvSpPr txBox="1"/>
          <p:nvPr/>
        </p:nvSpPr>
        <p:spPr>
          <a:xfrm>
            <a:off x="7214398" y="394066"/>
            <a:ext cx="45142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E68FB6"/>
                </a:solidFill>
                <a:latin typeface="Corbel"/>
                <a:ea typeface="Corbel"/>
                <a:cs typeface="Corbel"/>
                <a:sym typeface="Corbel"/>
              </a:rPr>
              <a:t>Proposed Methodology</a:t>
            </a:r>
            <a:endParaRPr sz="3200">
              <a:solidFill>
                <a:srgbClr val="E68FB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