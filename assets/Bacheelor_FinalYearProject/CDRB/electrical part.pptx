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Corbel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Corbel-bold.fntdata"/><Relationship Id="rId12" Type="http://schemas.openxmlformats.org/officeDocument/2006/relationships/font" Target="fonts/Corbel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orbel-boldItalic.fntdata"/><Relationship Id="rId14" Type="http://schemas.openxmlformats.org/officeDocument/2006/relationships/font" Target="fonts/Corbel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6" name="Google Shape;26;p3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Google Shape;27;p3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8" name="Google Shape;28;p3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9" name="Google Shape;29;p3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30" name="Google Shape;30;p3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31" name="Google Shape;31;p3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2" name="Google Shape;32;p3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6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5" name="Google Shape;55;p6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6" name="Google Shape;56;p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98" name="Google Shape;98;p1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7" name="Google Shape;7;p1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Google Shape;8;p1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9" name="Google Shape;9;p1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0" name="Google Shape;10;p1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1" name="Google Shape;11;p1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2" name="Google Shape;12;p1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3" name="Google Shape;13;p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/>
          <p:nvPr/>
        </p:nvSpPr>
        <p:spPr>
          <a:xfrm>
            <a:off x="2349305" y="1705119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0206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To supply power to the whole robot</a:t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2349305" y="2957732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B5982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locomotion and wall clinging mechanism of the robot</a:t>
            </a:r>
            <a:endParaRPr b="0" i="0" sz="20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2349305" y="4115975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1186C3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Manual path trajectory and path planned trajectory</a:t>
            </a:r>
            <a:endParaRPr b="0" i="0" sz="20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654018" y="351692"/>
            <a:ext cx="5050302" cy="104335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BDDF7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Electrical</a:t>
            </a:r>
            <a:endParaRPr b="0" i="0" sz="2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2349305" y="5274218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1186C3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Feedback from sensors</a:t>
            </a:r>
            <a:endParaRPr b="0" i="0" sz="20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/>
          <p:nvPr/>
        </p:nvSpPr>
        <p:spPr>
          <a:xfrm>
            <a:off x="6640513" y="2556520"/>
            <a:ext cx="1085850" cy="1143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rotWithShape="0" algn="ctr" dir="2700000" dist="228601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NodeMCU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8142288" y="2556520"/>
            <a:ext cx="933450" cy="1133475"/>
          </a:xfrm>
          <a:prstGeom prst="rect">
            <a:avLst/>
          </a:prstGeom>
          <a:gradFill>
            <a:gsLst>
              <a:gs pos="0">
                <a:srgbClr val="F18C55"/>
              </a:gs>
              <a:gs pos="50000">
                <a:srgbClr val="F67B28"/>
              </a:gs>
              <a:gs pos="100000">
                <a:srgbClr val="E56B17"/>
              </a:gs>
            </a:gsLst>
            <a:lin ang="5400000" scaled="0"/>
          </a:gradFill>
          <a:ln>
            <a:noFill/>
          </a:ln>
          <a:effectLst>
            <a:outerShdw rotWithShape="0" algn="ctr" dir="2700000" dist="228601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Motor Driver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4686300" y="2533070"/>
            <a:ext cx="1409700" cy="1152525"/>
          </a:xfrm>
          <a:prstGeom prst="rect">
            <a:avLst/>
          </a:prstGeom>
          <a:solidFill>
            <a:srgbClr val="A5A5A5"/>
          </a:solidFill>
          <a:ln>
            <a:noFill/>
          </a:ln>
          <a:effectLst>
            <a:outerShdw rotWithShape="0" algn="ctr" dir="2700000" dist="228601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2846388" y="1223020"/>
            <a:ext cx="1409700" cy="904875"/>
          </a:xfrm>
          <a:prstGeom prst="rect">
            <a:avLst/>
          </a:prstGeom>
          <a:solidFill>
            <a:srgbClr val="70AD47"/>
          </a:solidFill>
          <a:ln>
            <a:noFill/>
          </a:ln>
          <a:effectLst>
            <a:outerShdw rotWithShape="0" algn="ctr" dir="2700000" dist="228601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4686300" y="4328170"/>
            <a:ext cx="1409700" cy="1076325"/>
          </a:xfrm>
          <a:prstGeom prst="rect">
            <a:avLst/>
          </a:prstGeom>
          <a:gradFill>
            <a:gsLst>
              <a:gs pos="0">
                <a:srgbClr val="FFC746"/>
              </a:gs>
              <a:gs pos="50000">
                <a:srgbClr val="FFC600"/>
              </a:gs>
              <a:gs pos="100000">
                <a:srgbClr val="E5B600"/>
              </a:gs>
            </a:gsLst>
            <a:lin ang="5400000" scaled="0"/>
          </a:gradFill>
          <a:ln>
            <a:noFill/>
          </a:ln>
          <a:effectLst>
            <a:outerShdw rotWithShape="0" algn="ctr" dir="2700000" dist="228601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EDF + Motor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2846388" y="4318645"/>
            <a:ext cx="1352550" cy="1133475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rotWithShape="0" algn="ctr" dir="2700000" dist="228601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8142288" y="4328170"/>
            <a:ext cx="933450" cy="112395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rotWithShape="0" algn="ctr" dir="2700000" dist="228601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Gear Motor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7942263" y="1223020"/>
            <a:ext cx="1133475" cy="89535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rotWithShape="0" algn="ctr" dir="2700000" dist="228601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6640512" y="4328170"/>
            <a:ext cx="1130301" cy="1133475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rotWithShape="0" algn="ctr" dir="2700000" dist="228601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 rot="10800000">
            <a:off x="5243512" y="3716688"/>
            <a:ext cx="295276" cy="580389"/>
          </a:xfrm>
          <a:prstGeom prst="upArrow">
            <a:avLst>
              <a:gd fmla="val 50000" name="adj1"/>
              <a:gd fmla="val 66667" name="adj2"/>
            </a:avLst>
          </a:prstGeom>
          <a:solidFill>
            <a:srgbClr val="5E9934"/>
          </a:solidFill>
          <a:ln>
            <a:noFill/>
          </a:ln>
          <a:effectLst>
            <a:outerShdw blurRad="1905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7770814" y="2984260"/>
            <a:ext cx="371474" cy="2501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9934"/>
          </a:solidFill>
          <a:ln>
            <a:noFill/>
          </a:ln>
          <a:effectLst>
            <a:outerShdw blurRad="190500" algn="ctr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3400170" y="3716687"/>
            <a:ext cx="302136" cy="580389"/>
          </a:xfrm>
          <a:prstGeom prst="upArrow">
            <a:avLst>
              <a:gd fmla="val 43750" name="adj1"/>
              <a:gd fmla="val 71875" name="adj2"/>
            </a:avLst>
          </a:prstGeom>
          <a:solidFill>
            <a:srgbClr val="5E9934"/>
          </a:solidFill>
          <a:ln>
            <a:noFill/>
          </a:ln>
          <a:effectLst>
            <a:outerShdw blurRad="190500" algn="ctr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8461375" y="3738255"/>
            <a:ext cx="295275" cy="580390"/>
          </a:xfrm>
          <a:prstGeom prst="downArrow">
            <a:avLst>
              <a:gd fmla="val 50000" name="adj1"/>
              <a:gd fmla="val 72222" name="adj2"/>
            </a:avLst>
          </a:prstGeom>
          <a:solidFill>
            <a:srgbClr val="5E9934"/>
          </a:solidFill>
          <a:ln>
            <a:noFill/>
          </a:ln>
          <a:effectLst>
            <a:outerShdw blurRad="190500" algn="ctr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6141915" y="3003388"/>
            <a:ext cx="457200" cy="239737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5E9934"/>
          </a:solidFill>
          <a:ln>
            <a:noFill/>
          </a:ln>
          <a:effectLst>
            <a:outerShdw blurRad="190500" algn="ctr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846388" y="2556520"/>
            <a:ext cx="1352550" cy="1143000"/>
          </a:xfrm>
          <a:prstGeom prst="flowChartProcess">
            <a:avLst/>
          </a:prstGeom>
          <a:solidFill>
            <a:srgbClr val="4472C4"/>
          </a:solidFill>
          <a:ln>
            <a:noFill/>
          </a:ln>
          <a:effectLst>
            <a:outerShdw rotWithShape="0" algn="ctr" dir="2700000" dist="228601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Raspberry Pi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7085015" y="3699520"/>
            <a:ext cx="295276" cy="580390"/>
          </a:xfrm>
          <a:prstGeom prst="upArrow">
            <a:avLst>
              <a:gd fmla="val 36364" name="adj1"/>
              <a:gd fmla="val 68182" name="adj2"/>
            </a:avLst>
          </a:prstGeom>
          <a:solidFill>
            <a:srgbClr val="5E9934"/>
          </a:solidFill>
          <a:ln>
            <a:noFill/>
          </a:ln>
          <a:effectLst>
            <a:outerShdw blurRad="190500" algn="ctr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3380362" y="2137420"/>
            <a:ext cx="295275" cy="40957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E9934"/>
          </a:solidFill>
          <a:ln>
            <a:noFill/>
          </a:ln>
          <a:effectLst>
            <a:outerShdw blurRad="190500" algn="ctr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8" name="Google Shape;168;p20"/>
          <p:cNvSpPr/>
          <p:nvPr/>
        </p:nvSpPr>
        <p:spPr>
          <a:xfrm rot="10800000">
            <a:off x="7175884" y="1448786"/>
            <a:ext cx="752475" cy="1066800"/>
          </a:xfrm>
          <a:prstGeom prst="bentUpArrow">
            <a:avLst>
              <a:gd fmla="val 31329" name="adj1"/>
              <a:gd fmla="val 28165" name="adj2"/>
              <a:gd fmla="val 43987" name="adj3"/>
            </a:avLst>
          </a:prstGeom>
          <a:solidFill>
            <a:srgbClr val="5E9934"/>
          </a:solidFill>
          <a:ln>
            <a:noFill/>
          </a:ln>
          <a:effectLst>
            <a:outerShdw blurRad="1905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9" name="Google Shape;169;p20"/>
          <p:cNvSpPr/>
          <p:nvPr/>
        </p:nvSpPr>
        <p:spPr>
          <a:xfrm flipH="1" rot="10800000">
            <a:off x="4314005" y="1446858"/>
            <a:ext cx="2847975" cy="1066800"/>
          </a:xfrm>
          <a:prstGeom prst="bentUpArrow">
            <a:avLst>
              <a:gd fmla="val 25000" name="adj1"/>
              <a:gd fmla="val 22322" name="adj2"/>
              <a:gd fmla="val 31250" name="adj3"/>
            </a:avLst>
          </a:prstGeom>
          <a:solidFill>
            <a:srgbClr val="5E9934"/>
          </a:solidFill>
          <a:ln>
            <a:noFill/>
          </a:ln>
          <a:effectLst>
            <a:outerShdw blurRad="1905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0" name="Google Shape;170;p20"/>
          <p:cNvSpPr/>
          <p:nvPr/>
        </p:nvSpPr>
        <p:spPr>
          <a:xfrm flipH="1" rot="10800000">
            <a:off x="4321634" y="1837383"/>
            <a:ext cx="1200150" cy="676275"/>
          </a:xfrm>
          <a:prstGeom prst="bentUpArrow">
            <a:avLst>
              <a:gd fmla="val 27817" name="adj1"/>
              <a:gd fmla="val 26087" name="adj2"/>
              <a:gd fmla="val 36268" name="adj3"/>
            </a:avLst>
          </a:prstGeom>
          <a:solidFill>
            <a:srgbClr val="5E9934"/>
          </a:solidFill>
          <a:ln>
            <a:noFill/>
          </a:ln>
          <a:effectLst>
            <a:outerShdw blurRad="1905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/>
          <p:nvPr/>
        </p:nvSpPr>
        <p:spPr>
          <a:xfrm>
            <a:off x="2349305" y="1883757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0206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base concept of Negative Thrust is to create a partial vacuum while sucking the air.</a:t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2349305" y="3331854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B5982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An EDF along with a motor will be fitted at the center of the robot.</a:t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6654018" y="351692"/>
            <a:ext cx="5050302" cy="104335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BDDF7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Negative Thrust</a:t>
            </a:r>
            <a:endParaRPr sz="2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2349305" y="4779951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1186C3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This will create a negative thrust and keep the robot connected to the wall.</a:t>
            </a:r>
            <a:endParaRPr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83" name="Google Shape;1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/>
          <p:nvPr/>
        </p:nvSpPr>
        <p:spPr>
          <a:xfrm>
            <a:off x="2349305" y="1883757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0206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We are making a 4 wheeled robot with each wheel having a hub  mounted motor.</a:t>
            </a: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2349305" y="3331854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B5982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All the motors have independent motion from each other, but the collective motion drives the robot.</a:t>
            </a:r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6654018" y="351692"/>
            <a:ext cx="5050302" cy="104335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BDDF7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Kinematic Motion</a:t>
            </a:r>
            <a:endParaRPr sz="2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2349305" y="4779951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1186C3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Based on this, we will use the differential wheel turning method to steer our robot.</a:t>
            </a:r>
            <a:endParaRPr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/>
        </p:nvSpPr>
        <p:spPr>
          <a:xfrm>
            <a:off x="3803374" y="2898336"/>
            <a:ext cx="51683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INSERT DIAGRAM</a:t>
            </a:r>
            <a:endParaRPr sz="4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/>
          <p:nvPr/>
        </p:nvSpPr>
        <p:spPr>
          <a:xfrm>
            <a:off x="2349305" y="1883757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0206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An accelerometer is a sensor that measures the acceleration. </a:t>
            </a:r>
            <a:endParaRPr/>
          </a:p>
        </p:txBody>
      </p:sp>
      <p:sp>
        <p:nvSpPr>
          <p:cNvPr id="202" name="Google Shape;202;p25"/>
          <p:cNvSpPr/>
          <p:nvPr/>
        </p:nvSpPr>
        <p:spPr>
          <a:xfrm>
            <a:off x="2349305" y="3331854"/>
            <a:ext cx="6035040" cy="942536"/>
          </a:xfrm>
          <a:prstGeom prst="parallelogram">
            <a:avLst>
              <a:gd fmla="val 25000" name="adj"/>
            </a:avLst>
          </a:prstGeom>
          <a:solidFill>
            <a:srgbClr val="0B5982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Double integration of the measured acceleration will give us the displacement.</a:t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6654018" y="351692"/>
            <a:ext cx="5050302" cy="104335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BDDF7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Positioning</a:t>
            </a:r>
            <a:endParaRPr sz="2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2349305" y="4779951"/>
            <a:ext cx="6035040" cy="1051006"/>
          </a:xfrm>
          <a:prstGeom prst="parallelogram">
            <a:avLst>
              <a:gd fmla="val 25000" name="adj"/>
            </a:avLst>
          </a:prstGeom>
          <a:solidFill>
            <a:srgbClr val="1186C3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Using displacement MCU can determine the exact location of the wall traversing robot in XYZ plane w.r.t starting point.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